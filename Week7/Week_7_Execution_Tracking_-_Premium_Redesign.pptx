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66" r:id="rId11"/>
    <p:sldId id="269" r:id="rId12"/>
    <p:sldId id="267" r:id="rId13"/>
    <p:sldId id="270"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4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0023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114800" cy="5143500"/>
          </a:xfrm>
          <a:prstGeom prst="rect">
            <a:avLst/>
          </a:prstGeom>
          <a:solidFill>
            <a:srgbClr val="121A5D"/>
          </a:solidFill>
          <a:ln/>
        </p:spPr>
      </p:sp>
      <p:sp>
        <p:nvSpPr>
          <p:cNvPr id="4" name="Text 1"/>
          <p:cNvSpPr/>
          <p:nvPr/>
        </p:nvSpPr>
        <p:spPr>
          <a:xfrm>
            <a:off x="571500" y="1091487"/>
            <a:ext cx="3543300" cy="1767215"/>
          </a:xfrm>
          <a:prstGeom prst="rect">
            <a:avLst/>
          </a:prstGeom>
          <a:noFill/>
          <a:ln/>
        </p:spPr>
        <p:txBody>
          <a:bodyPr wrap="square" lIns="0" tIns="0" rIns="0" bIns="0" rtlCol="0" anchor="t">
            <a:spAutoFit/>
          </a:bodyPr>
          <a:lstStyle/>
          <a:p>
            <a:pPr marL="0" indent="0" algn="l">
              <a:lnSpc>
                <a:spcPct val="88000"/>
              </a:lnSpc>
              <a:buNone/>
            </a:pPr>
            <a:r>
              <a:rPr lang="en-US" sz="4350" b="1" dirty="0">
                <a:solidFill>
                  <a:srgbClr val="FFFFFF"/>
                </a:solidFill>
                <a:latin typeface="Arial" panose="020B0604020202020204" pitchFamily="34" charset="0"/>
                <a:ea typeface="Cardo Bold" pitchFamily="34" charset="-122"/>
                <a:cs typeface="Arial" panose="020B0604020202020204" pitchFamily="34" charset="0"/>
              </a:rPr>
              <a:t>Week 7:
Execution
Tracking</a:t>
            </a:r>
            <a:endParaRPr lang="en-US" sz="4350" dirty="0">
              <a:latin typeface="Arial" panose="020B0604020202020204" pitchFamily="34" charset="0"/>
              <a:cs typeface="Arial" panose="020B0604020202020204" pitchFamily="34" charset="0"/>
            </a:endParaRPr>
          </a:p>
        </p:txBody>
      </p:sp>
      <p:sp>
        <p:nvSpPr>
          <p:cNvPr id="5" name="Text 2"/>
          <p:cNvSpPr/>
          <p:nvPr/>
        </p:nvSpPr>
        <p:spPr>
          <a:xfrm>
            <a:off x="571500" y="3386026"/>
            <a:ext cx="3543300" cy="261610"/>
          </a:xfrm>
          <a:prstGeom prst="rect">
            <a:avLst/>
          </a:prstGeom>
          <a:noFill/>
          <a:ln/>
        </p:spPr>
        <p:txBody>
          <a:bodyPr wrap="square" lIns="0" tIns="0" rIns="0" bIns="0" rtlCol="0" anchor="t">
            <a:spAutoFit/>
          </a:bodyPr>
          <a:lstStyle/>
          <a:p>
            <a:pPr marL="0" indent="0" algn="l">
              <a:buNone/>
            </a:pPr>
            <a:r>
              <a:rPr lang="en-US" sz="1700" dirty="0">
                <a:solidFill>
                  <a:srgbClr val="FFFFFF">
                    <a:alpha val="90000"/>
                  </a:srgbClr>
                </a:solidFill>
                <a:latin typeface="Arial" panose="020B0604020202020204" pitchFamily="34" charset="0"/>
                <a:ea typeface="Inter Light" pitchFamily="34" charset="-122"/>
                <a:cs typeface="Arial" panose="020B0604020202020204" pitchFamily="34" charset="0"/>
              </a:rPr>
              <a:t>Raji Victor Oluwapelumi</a:t>
            </a:r>
            <a:endParaRPr lang="en-US" sz="1700" dirty="0">
              <a:latin typeface="Arial" panose="020B0604020202020204" pitchFamily="34" charset="0"/>
              <a:cs typeface="Arial" panose="020B0604020202020204" pitchFamily="34" charset="0"/>
            </a:endParaRPr>
          </a:p>
        </p:txBody>
      </p:sp>
      <p:sp>
        <p:nvSpPr>
          <p:cNvPr id="6" name="Text 3"/>
          <p:cNvSpPr/>
          <p:nvPr/>
        </p:nvSpPr>
        <p:spPr>
          <a:xfrm>
            <a:off x="571500" y="4834533"/>
            <a:ext cx="1759148" cy="130805"/>
          </a:xfrm>
          <a:prstGeom prst="rect">
            <a:avLst/>
          </a:prstGeom>
          <a:noFill/>
          <a:ln/>
        </p:spPr>
        <p:txBody>
          <a:bodyPr wrap="square" lIns="0" tIns="0" rIns="0" bIns="0" rtlCol="0" anchor="t">
            <a:spAutoFit/>
          </a:bodyPr>
          <a:lstStyle/>
          <a:p>
            <a:pPr marL="0" indent="0" algn="l">
              <a:buNone/>
            </a:pPr>
            <a:r>
              <a:rPr lang="en-US" sz="850" dirty="0">
                <a:solidFill>
                  <a:srgbClr val="FFFFFF">
                    <a:alpha val="60000"/>
                  </a:srgbClr>
                </a:solidFill>
                <a:latin typeface="Arial" panose="020B0604020202020204" pitchFamily="34" charset="0"/>
                <a:ea typeface="Inter" pitchFamily="34" charset="-122"/>
                <a:cs typeface="Arial" panose="020B0604020202020204" pitchFamily="34" charset="0"/>
              </a:rPr>
              <a:t>Corporate Strategy &amp; Operations</a:t>
            </a:r>
            <a:endParaRPr lang="en-US" sz="850" dirty="0">
              <a:latin typeface="Arial" panose="020B0604020202020204" pitchFamily="34" charset="0"/>
              <a:cs typeface="Arial" panose="020B0604020202020204" pitchFamily="34" charset="0"/>
            </a:endParaRPr>
          </a:p>
        </p:txBody>
      </p:sp>
      <p:sp>
        <p:nvSpPr>
          <p:cNvPr id="7" name="Text 4"/>
          <p:cNvSpPr/>
          <p:nvPr/>
        </p:nvSpPr>
        <p:spPr>
          <a:xfrm>
            <a:off x="8122444" y="57150"/>
            <a:ext cx="942566" cy="812530"/>
          </a:xfrm>
          <a:prstGeom prst="rect">
            <a:avLst/>
          </a:prstGeom>
          <a:noFill/>
          <a:ln/>
        </p:spPr>
        <p:txBody>
          <a:bodyPr wrap="none" lIns="0" tIns="0" rIns="0" bIns="0" rtlCol="0" anchor="t">
            <a:spAutoFit/>
          </a:bodyPr>
          <a:lstStyle/>
          <a:p>
            <a:pPr marL="0" indent="0" algn="l">
              <a:lnSpc>
                <a:spcPct val="80000"/>
              </a:lnSpc>
              <a:buNone/>
            </a:pPr>
            <a:r>
              <a:rPr lang="en-US" sz="6600" dirty="0">
                <a:solidFill>
                  <a:srgbClr val="F8F9FA"/>
                </a:solidFill>
                <a:latin typeface="Arial" panose="020B0604020202020204" pitchFamily="34" charset="0"/>
                <a:ea typeface="Cardo" pitchFamily="34" charset="-122"/>
                <a:cs typeface="Arial" panose="020B0604020202020204" pitchFamily="34" charset="0"/>
              </a:rPr>
              <a:t>07</a:t>
            </a:r>
            <a:endParaRPr lang="en-US" sz="6600" dirty="0">
              <a:latin typeface="Arial" panose="020B0604020202020204" pitchFamily="34" charset="0"/>
              <a:cs typeface="Arial" panose="020B0604020202020204" pitchFamily="34" charset="0"/>
            </a:endParaRPr>
          </a:p>
        </p:txBody>
      </p:sp>
      <p:sp>
        <p:nvSpPr>
          <p:cNvPr id="8" name="Text 5"/>
          <p:cNvSpPr/>
          <p:nvPr/>
        </p:nvSpPr>
        <p:spPr>
          <a:xfrm>
            <a:off x="4543425" y="2303859"/>
            <a:ext cx="4600575" cy="414338"/>
          </a:xfrm>
          <a:prstGeom prst="rect">
            <a:avLst/>
          </a:prstGeom>
          <a:noFill/>
          <a:ln/>
        </p:spPr>
        <p:txBody>
          <a:bodyPr wrap="square" lIns="0" tIns="0" rIns="0" bIns="0" rtlCol="0" anchor="t">
            <a:spAutoFit/>
          </a:bodyPr>
          <a:lstStyle/>
          <a:p>
            <a:pPr marL="0" indent="0" algn="l">
              <a:buNone/>
            </a:pPr>
            <a:r>
              <a:rPr lang="en-US" sz="2600" dirty="0">
                <a:solidFill>
                  <a:srgbClr val="121A5D"/>
                </a:solidFill>
                <a:latin typeface="Arial" panose="020B0604020202020204" pitchFamily="34" charset="0"/>
                <a:ea typeface="Inter" pitchFamily="34" charset="-122"/>
                <a:cs typeface="Arial" panose="020B0604020202020204" pitchFamily="34" charset="0"/>
              </a:rPr>
              <a:t>Executive Briefing</a:t>
            </a:r>
            <a:endParaRPr lang="en-US" sz="2600" dirty="0">
              <a:latin typeface="Arial" panose="020B0604020202020204" pitchFamily="34" charset="0"/>
              <a:cs typeface="Arial" panose="020B0604020202020204" pitchFamily="34" charset="0"/>
            </a:endParaRPr>
          </a:p>
        </p:txBody>
      </p:sp>
      <p:sp>
        <p:nvSpPr>
          <p:cNvPr id="9" name="Text 6"/>
          <p:cNvSpPr/>
          <p:nvPr/>
        </p:nvSpPr>
        <p:spPr>
          <a:xfrm>
            <a:off x="4329112" y="2766369"/>
            <a:ext cx="4600575" cy="184666"/>
          </a:xfrm>
          <a:prstGeom prst="rect">
            <a:avLst/>
          </a:prstGeom>
          <a:noFill/>
          <a:ln/>
        </p:spPr>
        <p:txBody>
          <a:bodyPr wrap="square" lIns="0" tIns="0" rIns="0" bIns="0" rtlCol="0" anchor="t">
            <a:spAutoFit/>
          </a:bodyPr>
          <a:lstStyle/>
          <a:p>
            <a:r>
              <a:rPr lang="en-US" sz="1200" i="1" dirty="0">
                <a:solidFill>
                  <a:srgbClr val="6B7A9F"/>
                </a:solidFill>
                <a:latin typeface="Arial" panose="020B0604020202020204" pitchFamily="34" charset="0"/>
                <a:cs typeface="Arial" panose="020B0604020202020204" pitchFamily="34" charset="0"/>
              </a:rPr>
              <a:t>Dashboards · Timeline Variance · Critical Path · Float · Bottlenecks</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572500" cy="893834"/>
          </a:xfrm>
          <a:prstGeom prst="rect">
            <a:avLst/>
          </a:prstGeom>
          <a:noFill/>
          <a:ln/>
        </p:spPr>
        <p:txBody>
          <a:bodyPr wrap="square" lIns="0" tIns="0" rIns="0" bIns="0" rtlCol="0" anchor="t">
            <a:spAutoFit/>
          </a:bodyPr>
          <a:lstStyle/>
          <a:p>
            <a:pPr marL="0" indent="0" algn="l">
              <a:lnSpc>
                <a:spcPct val="88000"/>
              </a:lnSpc>
              <a:buNone/>
            </a:pPr>
            <a:r>
              <a:rPr lang="en-US" sz="3300" b="1" dirty="0">
                <a:solidFill>
                  <a:srgbClr val="121A5D"/>
                </a:solidFill>
                <a:latin typeface="Arial" panose="020B0604020202020204" pitchFamily="34" charset="0"/>
                <a:ea typeface="Cardo Bold" pitchFamily="34" charset="-122"/>
                <a:cs typeface="Arial" panose="020B0604020202020204" pitchFamily="34" charset="0"/>
              </a:rPr>
              <a:t>Planning vs.
Execution Tracking</a:t>
            </a:r>
            <a:endParaRPr lang="en-US" sz="3300" dirty="0">
              <a:latin typeface="Arial" panose="020B0604020202020204" pitchFamily="34" charset="0"/>
              <a:cs typeface="Arial" panose="020B0604020202020204" pitchFamily="34" charset="0"/>
            </a:endParaRPr>
          </a:p>
        </p:txBody>
      </p:sp>
      <p:sp>
        <p:nvSpPr>
          <p:cNvPr id="4" name="Text 1"/>
          <p:cNvSpPr/>
          <p:nvPr/>
        </p:nvSpPr>
        <p:spPr>
          <a:xfrm>
            <a:off x="571500" y="1505880"/>
            <a:ext cx="8572500" cy="192360"/>
          </a:xfrm>
          <a:prstGeom prst="rect">
            <a:avLst/>
          </a:prstGeom>
          <a:noFill/>
          <a:ln/>
        </p:spPr>
        <p:txBody>
          <a:bodyPr wrap="square" lIns="0" tIns="0" rIns="0" bIns="0" rtlCol="0" anchor="t">
            <a:spAutoFit/>
          </a:bodyPr>
          <a:lstStyle/>
          <a:p>
            <a:pPr marL="0" indent="0" algn="l">
              <a:buNone/>
            </a:pPr>
            <a:r>
              <a:rPr lang="en-US" sz="1250" dirty="0">
                <a:solidFill>
                  <a:srgbClr val="0B6AE9"/>
                </a:solidFill>
                <a:latin typeface="Arial" panose="020B0604020202020204" pitchFamily="34" charset="0"/>
                <a:ea typeface="Inter Light" pitchFamily="34" charset="-122"/>
                <a:cs typeface="Arial" panose="020B0604020202020204" pitchFamily="34" charset="0"/>
              </a:rPr>
              <a:t>Shifting from theoretical roadmaps to operational reality</a:t>
            </a:r>
            <a:endParaRPr lang="en-US" sz="1250" dirty="0">
              <a:latin typeface="Arial" panose="020B0604020202020204" pitchFamily="34" charset="0"/>
              <a:cs typeface="Arial" panose="020B0604020202020204" pitchFamily="34" charset="0"/>
            </a:endParaRPr>
          </a:p>
        </p:txBody>
      </p:sp>
      <p:sp>
        <p:nvSpPr>
          <p:cNvPr id="5" name="Text 2"/>
          <p:cNvSpPr/>
          <p:nvPr/>
        </p:nvSpPr>
        <p:spPr>
          <a:xfrm>
            <a:off x="792956" y="1927361"/>
            <a:ext cx="2003822" cy="276999"/>
          </a:xfrm>
          <a:prstGeom prst="rect">
            <a:avLst/>
          </a:prstGeom>
          <a:noFill/>
          <a:ln/>
        </p:spPr>
        <p:txBody>
          <a:bodyPr wrap="square" lIns="0" tIns="0" rIns="0" bIns="0" rtlCol="0" anchor="t">
            <a:spAutoFit/>
          </a:bodyPr>
          <a:lstStyle/>
          <a:p>
            <a:pPr marL="0" indent="0" algn="l">
              <a:buNone/>
            </a:pPr>
            <a:r>
              <a:rPr lang="en-US" sz="1800" b="1" dirty="0">
                <a:solidFill>
                  <a:srgbClr val="121A5D"/>
                </a:solidFill>
                <a:latin typeface="Arial" panose="020B0604020202020204" pitchFamily="34" charset="0"/>
                <a:ea typeface="Cardo Bold" pitchFamily="34" charset="-122"/>
                <a:cs typeface="Arial" panose="020B0604020202020204" pitchFamily="34" charset="0"/>
              </a:rPr>
              <a:t>Project Planning</a:t>
            </a:r>
            <a:endParaRPr lang="en-US" sz="1800" dirty="0">
              <a:latin typeface="Arial" panose="020B0604020202020204" pitchFamily="34" charset="0"/>
              <a:cs typeface="Arial" panose="020B0604020202020204" pitchFamily="34" charset="0"/>
            </a:endParaRPr>
          </a:p>
        </p:txBody>
      </p:sp>
      <p:sp>
        <p:nvSpPr>
          <p:cNvPr id="6" name="Text 3"/>
          <p:cNvSpPr/>
          <p:nvPr/>
        </p:nvSpPr>
        <p:spPr>
          <a:xfrm>
            <a:off x="721519" y="2389919"/>
            <a:ext cx="1292020"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pitchFamily="34" charset="-122"/>
                <a:cs typeface="Arial" panose="020B0604020202020204" pitchFamily="34" charset="0"/>
              </a:rPr>
              <a:t>Theoretical Roadmap</a:t>
            </a:r>
            <a:endParaRPr lang="en-US" sz="1050" dirty="0">
              <a:latin typeface="Arial" panose="020B0604020202020204" pitchFamily="34" charset="0"/>
              <a:cs typeface="Arial" panose="020B0604020202020204" pitchFamily="34" charset="0"/>
            </a:endParaRPr>
          </a:p>
        </p:txBody>
      </p:sp>
      <p:sp>
        <p:nvSpPr>
          <p:cNvPr id="7" name="Text 4"/>
          <p:cNvSpPr/>
          <p:nvPr/>
        </p:nvSpPr>
        <p:spPr>
          <a:xfrm>
            <a:off x="721519" y="2673883"/>
            <a:ext cx="2476640"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Defines the ideal sequence of events and</a:t>
            </a:r>
            <a:endParaRPr lang="en-US" sz="1050" dirty="0">
              <a:latin typeface="Arial" panose="020B0604020202020204" pitchFamily="34" charset="0"/>
              <a:cs typeface="Arial" panose="020B0604020202020204" pitchFamily="34" charset="0"/>
            </a:endParaRPr>
          </a:p>
        </p:txBody>
      </p:sp>
      <p:sp>
        <p:nvSpPr>
          <p:cNvPr id="8" name="Text 5"/>
          <p:cNvSpPr/>
          <p:nvPr/>
        </p:nvSpPr>
        <p:spPr>
          <a:xfrm>
            <a:off x="721519" y="2902483"/>
            <a:ext cx="2614498"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dependencies based on initial assumptions.</a:t>
            </a:r>
            <a:endParaRPr lang="en-US" sz="1050" dirty="0">
              <a:latin typeface="Arial" panose="020B0604020202020204" pitchFamily="34" charset="0"/>
              <a:cs typeface="Arial" panose="020B0604020202020204" pitchFamily="34" charset="0"/>
            </a:endParaRPr>
          </a:p>
        </p:txBody>
      </p:sp>
      <p:sp>
        <p:nvSpPr>
          <p:cNvPr id="9" name="Text 6"/>
          <p:cNvSpPr/>
          <p:nvPr/>
        </p:nvSpPr>
        <p:spPr>
          <a:xfrm>
            <a:off x="721519" y="3190019"/>
            <a:ext cx="1065997"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pitchFamily="34" charset="-122"/>
                <a:cs typeface="Arial" panose="020B0604020202020204" pitchFamily="34" charset="0"/>
              </a:rPr>
              <a:t>Baseline Success</a:t>
            </a:r>
            <a:endParaRPr lang="en-US" sz="1050" dirty="0">
              <a:latin typeface="Arial" panose="020B0604020202020204" pitchFamily="34" charset="0"/>
              <a:cs typeface="Arial" panose="020B0604020202020204" pitchFamily="34" charset="0"/>
            </a:endParaRPr>
          </a:p>
        </p:txBody>
      </p:sp>
      <p:sp>
        <p:nvSpPr>
          <p:cNvPr id="10" name="Text 7"/>
          <p:cNvSpPr/>
          <p:nvPr/>
        </p:nvSpPr>
        <p:spPr>
          <a:xfrm>
            <a:off x="721519" y="3473983"/>
            <a:ext cx="2888611"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Establishes the standard against which all future</a:t>
            </a:r>
            <a:endParaRPr lang="en-US" sz="1050" dirty="0">
              <a:latin typeface="Arial" panose="020B0604020202020204" pitchFamily="34" charset="0"/>
              <a:cs typeface="Arial" panose="020B0604020202020204" pitchFamily="34" charset="0"/>
            </a:endParaRPr>
          </a:p>
        </p:txBody>
      </p:sp>
      <p:sp>
        <p:nvSpPr>
          <p:cNvPr id="11" name="Text 8"/>
          <p:cNvSpPr/>
          <p:nvPr/>
        </p:nvSpPr>
        <p:spPr>
          <a:xfrm>
            <a:off x="721519" y="3702583"/>
            <a:ext cx="1614224"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progress will be measured.</a:t>
            </a:r>
            <a:endParaRPr lang="en-US" sz="1050" dirty="0">
              <a:latin typeface="Arial" panose="020B0604020202020204" pitchFamily="34" charset="0"/>
              <a:cs typeface="Arial" panose="020B0604020202020204" pitchFamily="34" charset="0"/>
            </a:endParaRPr>
          </a:p>
        </p:txBody>
      </p:sp>
      <p:sp>
        <p:nvSpPr>
          <p:cNvPr id="12" name="Text 9"/>
          <p:cNvSpPr/>
          <p:nvPr/>
        </p:nvSpPr>
        <p:spPr>
          <a:xfrm>
            <a:off x="721519" y="3990119"/>
            <a:ext cx="1155766"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pitchFamily="34" charset="-122"/>
                <a:cs typeface="Arial" panose="020B0604020202020204" pitchFamily="34" charset="0"/>
              </a:rPr>
              <a:t>Strategic Allocation</a:t>
            </a:r>
            <a:endParaRPr lang="en-US" sz="1050" dirty="0">
              <a:latin typeface="Arial" panose="020B0604020202020204" pitchFamily="34" charset="0"/>
              <a:cs typeface="Arial" panose="020B0604020202020204" pitchFamily="34" charset="0"/>
            </a:endParaRPr>
          </a:p>
        </p:txBody>
      </p:sp>
      <p:sp>
        <p:nvSpPr>
          <p:cNvPr id="13" name="Text 10"/>
          <p:cNvSpPr/>
          <p:nvPr/>
        </p:nvSpPr>
        <p:spPr>
          <a:xfrm>
            <a:off x="721519" y="4274083"/>
            <a:ext cx="2830903"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Focuses on high-level resource distribution and</a:t>
            </a:r>
            <a:endParaRPr lang="en-US" sz="1050" dirty="0">
              <a:latin typeface="Arial" panose="020B0604020202020204" pitchFamily="34" charset="0"/>
              <a:cs typeface="Arial" panose="020B0604020202020204" pitchFamily="34" charset="0"/>
            </a:endParaRPr>
          </a:p>
        </p:txBody>
      </p:sp>
      <p:sp>
        <p:nvSpPr>
          <p:cNvPr id="14" name="Text 11"/>
          <p:cNvSpPr/>
          <p:nvPr/>
        </p:nvSpPr>
        <p:spPr>
          <a:xfrm>
            <a:off x="721519" y="4502683"/>
            <a:ext cx="1657505"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long-term milestone setting.</a:t>
            </a:r>
            <a:endParaRPr lang="en-US" sz="1050" dirty="0">
              <a:latin typeface="Arial" panose="020B0604020202020204" pitchFamily="34" charset="0"/>
              <a:cs typeface="Arial" panose="020B0604020202020204" pitchFamily="34" charset="0"/>
            </a:endParaRPr>
          </a:p>
        </p:txBody>
      </p:sp>
      <p:sp>
        <p:nvSpPr>
          <p:cNvPr id="15" name="Text 12"/>
          <p:cNvSpPr/>
          <p:nvPr/>
        </p:nvSpPr>
        <p:spPr>
          <a:xfrm>
            <a:off x="5193506" y="1927361"/>
            <a:ext cx="2337792" cy="276999"/>
          </a:xfrm>
          <a:prstGeom prst="rect">
            <a:avLst/>
          </a:prstGeom>
          <a:noFill/>
          <a:ln/>
        </p:spPr>
        <p:txBody>
          <a:bodyPr wrap="square" lIns="0" tIns="0" rIns="0" bIns="0" rtlCol="0" anchor="t">
            <a:spAutoFit/>
          </a:bodyPr>
          <a:lstStyle/>
          <a:p>
            <a:pPr marL="0" indent="0" algn="l">
              <a:buNone/>
            </a:pPr>
            <a:r>
              <a:rPr lang="en-US" sz="1800" b="1" dirty="0">
                <a:solidFill>
                  <a:srgbClr val="121A5D"/>
                </a:solidFill>
                <a:latin typeface="Arial" panose="020B0604020202020204" pitchFamily="34" charset="0"/>
                <a:ea typeface="Cardo Bold" pitchFamily="34" charset="-122"/>
                <a:cs typeface="Arial" panose="020B0604020202020204" pitchFamily="34" charset="0"/>
              </a:rPr>
              <a:t>Execution Tracking</a:t>
            </a:r>
            <a:endParaRPr lang="en-US" sz="1800" dirty="0">
              <a:latin typeface="Arial" panose="020B0604020202020204" pitchFamily="34" charset="0"/>
              <a:cs typeface="Arial" panose="020B0604020202020204" pitchFamily="34" charset="0"/>
            </a:endParaRPr>
          </a:p>
        </p:txBody>
      </p:sp>
      <p:sp>
        <p:nvSpPr>
          <p:cNvPr id="16" name="Text 13"/>
          <p:cNvSpPr/>
          <p:nvPr/>
        </p:nvSpPr>
        <p:spPr>
          <a:xfrm>
            <a:off x="5122069" y="2389919"/>
            <a:ext cx="1149354"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pitchFamily="34" charset="-122"/>
                <a:cs typeface="Arial" panose="020B0604020202020204" pitchFamily="34" charset="0"/>
              </a:rPr>
              <a:t>Operational Reality</a:t>
            </a:r>
            <a:endParaRPr lang="en-US" sz="1050" dirty="0">
              <a:latin typeface="Arial" panose="020B0604020202020204" pitchFamily="34" charset="0"/>
              <a:cs typeface="Arial" panose="020B0604020202020204" pitchFamily="34" charset="0"/>
            </a:endParaRPr>
          </a:p>
        </p:txBody>
      </p:sp>
      <p:sp>
        <p:nvSpPr>
          <p:cNvPr id="17" name="Text 14"/>
          <p:cNvSpPr/>
          <p:nvPr/>
        </p:nvSpPr>
        <p:spPr>
          <a:xfrm>
            <a:off x="5122069" y="2673883"/>
            <a:ext cx="2938305"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Captures day-to-day progress, surfacing the truth</a:t>
            </a:r>
            <a:endParaRPr lang="en-US" sz="1050" dirty="0">
              <a:latin typeface="Arial" panose="020B0604020202020204" pitchFamily="34" charset="0"/>
              <a:cs typeface="Arial" panose="020B0604020202020204" pitchFamily="34" charset="0"/>
            </a:endParaRPr>
          </a:p>
        </p:txBody>
      </p:sp>
      <p:sp>
        <p:nvSpPr>
          <p:cNvPr id="18" name="Text 15"/>
          <p:cNvSpPr/>
          <p:nvPr/>
        </p:nvSpPr>
        <p:spPr>
          <a:xfrm>
            <a:off x="5122069" y="2902483"/>
            <a:ext cx="1303242"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of project momentum.</a:t>
            </a:r>
            <a:endParaRPr lang="en-US" sz="1050" dirty="0">
              <a:latin typeface="Arial" panose="020B0604020202020204" pitchFamily="34" charset="0"/>
              <a:cs typeface="Arial" panose="020B0604020202020204" pitchFamily="34" charset="0"/>
            </a:endParaRPr>
          </a:p>
        </p:txBody>
      </p:sp>
      <p:sp>
        <p:nvSpPr>
          <p:cNvPr id="19" name="Text 16"/>
          <p:cNvSpPr/>
          <p:nvPr/>
        </p:nvSpPr>
        <p:spPr>
          <a:xfrm>
            <a:off x="5122069" y="3190019"/>
            <a:ext cx="1141338"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pitchFamily="34" charset="-122"/>
                <a:cs typeface="Arial" panose="020B0604020202020204" pitchFamily="34" charset="0"/>
              </a:rPr>
              <a:t>Variance Detection</a:t>
            </a:r>
            <a:endParaRPr lang="en-US" sz="1050" dirty="0">
              <a:latin typeface="Arial" panose="020B0604020202020204" pitchFamily="34" charset="0"/>
              <a:cs typeface="Arial" panose="020B0604020202020204" pitchFamily="34" charset="0"/>
            </a:endParaRPr>
          </a:p>
        </p:txBody>
      </p:sp>
      <p:sp>
        <p:nvSpPr>
          <p:cNvPr id="20" name="Text 17"/>
          <p:cNvSpPr/>
          <p:nvPr/>
        </p:nvSpPr>
        <p:spPr>
          <a:xfrm>
            <a:off x="5122069" y="3473983"/>
            <a:ext cx="2978379"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Identifies deviations from the plan early enough to</a:t>
            </a:r>
            <a:endParaRPr lang="en-US" sz="1050" dirty="0">
              <a:latin typeface="Arial" panose="020B0604020202020204" pitchFamily="34" charset="0"/>
              <a:cs typeface="Arial" panose="020B0604020202020204" pitchFamily="34" charset="0"/>
            </a:endParaRPr>
          </a:p>
        </p:txBody>
      </p:sp>
      <p:sp>
        <p:nvSpPr>
          <p:cNvPr id="21" name="Text 18"/>
          <p:cNvSpPr/>
          <p:nvPr/>
        </p:nvSpPr>
        <p:spPr>
          <a:xfrm>
            <a:off x="5122069" y="3702583"/>
            <a:ext cx="1659109"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enable proactive correction.</a:t>
            </a:r>
            <a:endParaRPr lang="en-US" sz="1050" dirty="0">
              <a:latin typeface="Arial" panose="020B0604020202020204" pitchFamily="34" charset="0"/>
              <a:cs typeface="Arial" panose="020B0604020202020204" pitchFamily="34" charset="0"/>
            </a:endParaRPr>
          </a:p>
        </p:txBody>
      </p:sp>
      <p:sp>
        <p:nvSpPr>
          <p:cNvPr id="22" name="Text 19"/>
          <p:cNvSpPr/>
          <p:nvPr/>
        </p:nvSpPr>
        <p:spPr>
          <a:xfrm>
            <a:off x="5122069" y="3990119"/>
            <a:ext cx="1118896"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pitchFamily="34" charset="-122"/>
                <a:cs typeface="Arial" panose="020B0604020202020204" pitchFamily="34" charset="0"/>
              </a:rPr>
              <a:t>Data-Driven Agility</a:t>
            </a:r>
            <a:endParaRPr lang="en-US" sz="1050" dirty="0">
              <a:latin typeface="Arial" panose="020B0604020202020204" pitchFamily="34" charset="0"/>
              <a:cs typeface="Arial" panose="020B0604020202020204" pitchFamily="34" charset="0"/>
            </a:endParaRPr>
          </a:p>
        </p:txBody>
      </p:sp>
      <p:sp>
        <p:nvSpPr>
          <p:cNvPr id="23" name="Text 20"/>
          <p:cNvSpPr/>
          <p:nvPr/>
        </p:nvSpPr>
        <p:spPr>
          <a:xfrm>
            <a:off x="5122069" y="4274083"/>
            <a:ext cx="2941511"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Provides the evidence required to make informed</a:t>
            </a:r>
            <a:endParaRPr lang="en-US" sz="1050" dirty="0">
              <a:latin typeface="Arial" panose="020B0604020202020204" pitchFamily="34" charset="0"/>
              <a:cs typeface="Arial" panose="020B0604020202020204" pitchFamily="34" charset="0"/>
            </a:endParaRPr>
          </a:p>
        </p:txBody>
      </p:sp>
      <p:sp>
        <p:nvSpPr>
          <p:cNvPr id="24" name="Text 21"/>
          <p:cNvSpPr/>
          <p:nvPr/>
        </p:nvSpPr>
        <p:spPr>
          <a:xfrm>
            <a:off x="5122069" y="4502683"/>
            <a:ext cx="2128788" cy="18582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adjustments to the original strategy.</a:t>
            </a:r>
            <a:endParaRPr lang="en-US" sz="1050" dirty="0">
              <a:latin typeface="Arial" panose="020B0604020202020204" pitchFamily="34" charset="0"/>
              <a:cs typeface="Arial" panose="020B0604020202020204" pitchFamily="34" charset="0"/>
            </a:endParaRPr>
          </a:p>
        </p:txBody>
      </p:sp>
      <p:sp>
        <p:nvSpPr>
          <p:cNvPr id="25" name="Text 22"/>
          <p:cNvSpPr/>
          <p:nvPr/>
        </p:nvSpPr>
        <p:spPr>
          <a:xfrm>
            <a:off x="7495580"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SECTION 01 / PAGE 02</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572000" cy="5143500"/>
          </a:xfrm>
          <a:prstGeom prst="rect">
            <a:avLst/>
          </a:prstGeom>
          <a:solidFill>
            <a:srgbClr val="F8F9FA"/>
          </a:solidFill>
          <a:ln/>
        </p:spPr>
      </p:sp>
      <p:sp>
        <p:nvSpPr>
          <p:cNvPr id="4" name="Text 1"/>
          <p:cNvSpPr/>
          <p:nvPr/>
        </p:nvSpPr>
        <p:spPr>
          <a:xfrm>
            <a:off x="571500" y="428625"/>
            <a:ext cx="3571875" cy="161583"/>
          </a:xfrm>
          <a:prstGeom prst="rect">
            <a:avLst/>
          </a:prstGeom>
          <a:noFill/>
          <a:ln/>
        </p:spPr>
        <p:txBody>
          <a:bodyPr wrap="square" lIns="0" tIns="0" rIns="0" bIns="0" rtlCol="0" anchor="t">
            <a:spAutoFit/>
          </a:bodyPr>
          <a:lstStyle/>
          <a:p>
            <a:pPr marL="0" indent="0" algn="l">
              <a:buNone/>
            </a:pPr>
            <a:r>
              <a:rPr lang="en-US" sz="1050" kern="0" spc="1" dirty="0">
                <a:solidFill>
                  <a:srgbClr val="0B6AE9"/>
                </a:solidFill>
                <a:latin typeface="Arial" panose="020B0604020202020204" pitchFamily="34" charset="0"/>
                <a:ea typeface="Inter" pitchFamily="34" charset="-122"/>
                <a:cs typeface="Arial" panose="020B0604020202020204" pitchFamily="34" charset="0"/>
              </a:rPr>
              <a:t>THE OPERATIONAL LENS</a:t>
            </a:r>
            <a:endParaRPr lang="en-US" sz="1050" dirty="0">
              <a:latin typeface="Arial" panose="020B0604020202020204" pitchFamily="34" charset="0"/>
              <a:cs typeface="Arial" panose="020B0604020202020204" pitchFamily="34" charset="0"/>
            </a:endParaRPr>
          </a:p>
        </p:txBody>
      </p:sp>
      <p:sp>
        <p:nvSpPr>
          <p:cNvPr id="5" name="Text 2"/>
          <p:cNvSpPr/>
          <p:nvPr/>
        </p:nvSpPr>
        <p:spPr>
          <a:xfrm>
            <a:off x="571500" y="691668"/>
            <a:ext cx="3571875" cy="331822"/>
          </a:xfrm>
          <a:prstGeom prst="rect">
            <a:avLst/>
          </a:prstGeom>
          <a:noFill/>
          <a:ln/>
        </p:spPr>
        <p:txBody>
          <a:bodyPr wrap="square" lIns="0" tIns="0" rIns="0" bIns="0" rtlCol="0" anchor="t">
            <a:spAutoFit/>
          </a:bodyPr>
          <a:lstStyle/>
          <a:p>
            <a:pPr marL="0" indent="0" algn="l">
              <a:lnSpc>
                <a:spcPct val="88000"/>
              </a:lnSpc>
              <a:buNone/>
            </a:pPr>
            <a:r>
              <a:rPr lang="en-US" sz="2450" b="1" dirty="0">
                <a:solidFill>
                  <a:srgbClr val="121A5D"/>
                </a:solidFill>
                <a:latin typeface="Arial" panose="020B0604020202020204" pitchFamily="34" charset="0"/>
                <a:ea typeface="Cardo Bold" pitchFamily="34" charset="-122"/>
                <a:cs typeface="Arial" panose="020B0604020202020204" pitchFamily="34" charset="0"/>
              </a:rPr>
              <a:t>The “Sprint” Board</a:t>
            </a:r>
            <a:endParaRPr lang="en-US" sz="2450" dirty="0">
              <a:latin typeface="Arial" panose="020B0604020202020204" pitchFamily="34" charset="0"/>
              <a:cs typeface="Arial" panose="020B0604020202020204" pitchFamily="34" charset="0"/>
            </a:endParaRPr>
          </a:p>
        </p:txBody>
      </p:sp>
      <p:sp>
        <p:nvSpPr>
          <p:cNvPr id="7" name="Text 4"/>
          <p:cNvSpPr/>
          <p:nvPr/>
        </p:nvSpPr>
        <p:spPr>
          <a:xfrm>
            <a:off x="581326" y="1329316"/>
            <a:ext cx="1841851" cy="176074"/>
          </a:xfrm>
          <a:prstGeom prst="rect">
            <a:avLst/>
          </a:prstGeom>
          <a:noFill/>
          <a:ln/>
        </p:spPr>
        <p:txBody>
          <a:bodyPr wrap="none" lIns="0" tIns="0" rIns="0" bIns="0" rtlCol="0" anchor="t">
            <a:spAutoFit/>
          </a:bodyPr>
          <a:lstStyle/>
          <a:p>
            <a:pPr>
              <a:lnSpc>
                <a:spcPct val="120000"/>
              </a:lnSpc>
            </a:pPr>
            <a:r>
              <a:rPr lang="en-US" sz="1050" dirty="0">
                <a:solidFill>
                  <a:srgbClr val="121A5D"/>
                </a:solidFill>
                <a:latin typeface="Arial" panose="020B0604020202020204" pitchFamily="34" charset="0"/>
                <a:ea typeface="Inter Light" pitchFamily="34" charset="-122"/>
                <a:cs typeface="Arial" panose="020B0604020202020204" pitchFamily="34" charset="0"/>
              </a:rPr>
              <a:t>“What am I working on today?"</a:t>
            </a:r>
            <a:endParaRPr lang="en-US" sz="1050" dirty="0">
              <a:latin typeface="Arial" panose="020B0604020202020204" pitchFamily="34" charset="0"/>
              <a:cs typeface="Arial" panose="020B0604020202020204" pitchFamily="34" charset="0"/>
            </a:endParaRPr>
          </a:p>
        </p:txBody>
      </p:sp>
      <p:sp>
        <p:nvSpPr>
          <p:cNvPr id="9" name="Text 6"/>
          <p:cNvSpPr/>
          <p:nvPr/>
        </p:nvSpPr>
        <p:spPr>
          <a:xfrm>
            <a:off x="571500" y="1622800"/>
            <a:ext cx="3055324" cy="757772"/>
          </a:xfrm>
          <a:prstGeom prst="rect">
            <a:avLst/>
          </a:prstGeom>
          <a:noFill/>
          <a:ln/>
        </p:spPr>
        <p:txBody>
          <a:bodyPr wrap="none" lIns="0" tIns="0" rIns="0" bIns="0" rtlCol="0" anchor="t">
            <a:spAutoFit/>
          </a:bodyPr>
          <a:lstStyle/>
          <a:p>
            <a:pPr marL="171450" indent="-171450">
              <a:lnSpc>
                <a:spcPct val="120000"/>
              </a:lnSpc>
              <a:buFont typeface="Arial" panose="020B0604020202020204" pitchFamily="34" charset="0"/>
              <a:buChar char="•"/>
            </a:pPr>
            <a:r>
              <a:rPr lang="en-US" sz="1050" dirty="0">
                <a:solidFill>
                  <a:srgbClr val="121A5D"/>
                </a:solidFill>
                <a:latin typeface="Arial" panose="020B0604020202020204" pitchFamily="34" charset="0"/>
                <a:ea typeface="Inter" pitchFamily="34" charset="-122"/>
                <a:cs typeface="Arial" panose="020B0604020202020204" pitchFamily="34" charset="0"/>
              </a:rPr>
              <a:t>To Do / In Progress / In Review / Done columns</a:t>
            </a:r>
          </a:p>
          <a:p>
            <a:pPr marL="171450" indent="-171450">
              <a:lnSpc>
                <a:spcPct val="120000"/>
              </a:lnSpc>
              <a:buFont typeface="Arial" panose="020B0604020202020204" pitchFamily="34" charset="0"/>
              <a:buChar char="•"/>
            </a:pPr>
            <a:r>
              <a:rPr lang="en-US" sz="1050" dirty="0">
                <a:solidFill>
                  <a:srgbClr val="121A5D"/>
                </a:solidFill>
                <a:latin typeface="Arial" panose="020B0604020202020204" pitchFamily="34" charset="0"/>
                <a:ea typeface="Inter Light" pitchFamily="34" charset="-122"/>
                <a:cs typeface="Arial" panose="020B0604020202020204" pitchFamily="34" charset="0"/>
              </a:rPr>
              <a:t>Task-level detail</a:t>
            </a:r>
          </a:p>
          <a:p>
            <a:pPr marL="171450" indent="-171450">
              <a:lnSpc>
                <a:spcPct val="120000"/>
              </a:lnSpc>
              <a:buFont typeface="Arial" panose="020B0604020202020204" pitchFamily="34" charset="0"/>
              <a:buChar char="•"/>
            </a:pPr>
            <a:r>
              <a:rPr lang="en-US" sz="1050" dirty="0">
                <a:solidFill>
                  <a:srgbClr val="121A5D"/>
                </a:solidFill>
                <a:latin typeface="Arial" panose="020B0604020202020204" pitchFamily="34" charset="0"/>
                <a:ea typeface="Inter Light" pitchFamily="34" charset="-122"/>
                <a:cs typeface="Arial" panose="020B0604020202020204" pitchFamily="34" charset="0"/>
              </a:rPr>
              <a:t>Updated continuously by the team</a:t>
            </a:r>
          </a:p>
          <a:p>
            <a:pPr marL="171450" indent="-171450">
              <a:lnSpc>
                <a:spcPct val="120000"/>
              </a:lnSpc>
              <a:buFont typeface="Arial" panose="020B0604020202020204" pitchFamily="34" charset="0"/>
              <a:buChar char="•"/>
            </a:pPr>
            <a:r>
              <a:rPr lang="en-US" sz="1050" dirty="0">
                <a:solidFill>
                  <a:srgbClr val="121A5D"/>
                </a:solidFill>
                <a:latin typeface="Arial" panose="020B0604020202020204" pitchFamily="34" charset="0"/>
                <a:ea typeface="Inter" pitchFamily="34" charset="-122"/>
                <a:cs typeface="Arial" panose="020B0604020202020204" pitchFamily="34" charset="0"/>
              </a:rPr>
              <a:t>Used by: developers, Scrum Master, PO</a:t>
            </a:r>
          </a:p>
        </p:txBody>
      </p:sp>
      <p:sp>
        <p:nvSpPr>
          <p:cNvPr id="10" name="Text 7"/>
          <p:cNvSpPr/>
          <p:nvPr/>
        </p:nvSpPr>
        <p:spPr>
          <a:xfrm>
            <a:off x="571500" y="2109267"/>
            <a:ext cx="65" cy="176074"/>
          </a:xfrm>
          <a:prstGeom prst="rect">
            <a:avLst/>
          </a:prstGeom>
          <a:noFill/>
          <a:ln/>
        </p:spPr>
        <p:txBody>
          <a:bodyPr wrap="none" lIns="0" tIns="0" rIns="0" bIns="0" rtlCol="0" anchor="t">
            <a:spAutoFit/>
          </a:bodyPr>
          <a:lstStyle/>
          <a:p>
            <a:pPr>
              <a:lnSpc>
                <a:spcPct val="120000"/>
              </a:lnSpc>
            </a:pPr>
            <a:endParaRPr lang="en-US" sz="1050" dirty="0">
              <a:solidFill>
                <a:srgbClr val="121A5D"/>
              </a:solidFill>
              <a:latin typeface="Arial" panose="020B0604020202020204" pitchFamily="34" charset="0"/>
              <a:ea typeface="Inter Light" pitchFamily="34" charset="-122"/>
              <a:cs typeface="Arial" panose="020B0604020202020204" pitchFamily="34" charset="0"/>
            </a:endParaRPr>
          </a:p>
        </p:txBody>
      </p:sp>
      <p:sp>
        <p:nvSpPr>
          <p:cNvPr id="15" name="Shape 12"/>
          <p:cNvSpPr/>
          <p:nvPr/>
        </p:nvSpPr>
        <p:spPr>
          <a:xfrm>
            <a:off x="4572000" y="0"/>
            <a:ext cx="4572000" cy="5143500"/>
          </a:xfrm>
          <a:prstGeom prst="rect">
            <a:avLst/>
          </a:prstGeom>
          <a:solidFill>
            <a:srgbClr val="121A5D"/>
          </a:solidFill>
          <a:ln/>
        </p:spPr>
      </p:sp>
      <p:sp>
        <p:nvSpPr>
          <p:cNvPr id="16" name="Text 13"/>
          <p:cNvSpPr/>
          <p:nvPr/>
        </p:nvSpPr>
        <p:spPr>
          <a:xfrm>
            <a:off x="5000625" y="428625"/>
            <a:ext cx="3571875" cy="161583"/>
          </a:xfrm>
          <a:prstGeom prst="rect">
            <a:avLst/>
          </a:prstGeom>
          <a:noFill/>
          <a:ln/>
        </p:spPr>
        <p:txBody>
          <a:bodyPr wrap="square" lIns="0" tIns="0" rIns="0" bIns="0" rtlCol="0" anchor="t">
            <a:spAutoFit/>
          </a:bodyPr>
          <a:lstStyle/>
          <a:p>
            <a:pPr marL="0" indent="0" algn="l">
              <a:buNone/>
            </a:pPr>
            <a:r>
              <a:rPr lang="en-US" sz="1050" kern="0" spc="1" dirty="0">
                <a:solidFill>
                  <a:srgbClr val="FFFFFF">
                    <a:alpha val="80000"/>
                  </a:srgbClr>
                </a:solidFill>
                <a:latin typeface="Arial" panose="020B0604020202020204" pitchFamily="34" charset="0"/>
                <a:ea typeface="Inter" pitchFamily="34" charset="-122"/>
                <a:cs typeface="Arial" panose="020B0604020202020204" pitchFamily="34" charset="0"/>
              </a:rPr>
              <a:t>THE EXECUTIVE LENS</a:t>
            </a:r>
            <a:endParaRPr lang="en-US" sz="1050" dirty="0">
              <a:latin typeface="Arial" panose="020B0604020202020204" pitchFamily="34" charset="0"/>
              <a:cs typeface="Arial" panose="020B0604020202020204" pitchFamily="34" charset="0"/>
            </a:endParaRPr>
          </a:p>
        </p:txBody>
      </p:sp>
      <p:sp>
        <p:nvSpPr>
          <p:cNvPr id="17" name="Text 14"/>
          <p:cNvSpPr/>
          <p:nvPr/>
        </p:nvSpPr>
        <p:spPr>
          <a:xfrm>
            <a:off x="4907319" y="691668"/>
            <a:ext cx="4143375" cy="331757"/>
          </a:xfrm>
          <a:prstGeom prst="rect">
            <a:avLst/>
          </a:prstGeom>
          <a:noFill/>
          <a:ln/>
        </p:spPr>
        <p:txBody>
          <a:bodyPr wrap="square" lIns="0" tIns="0" rIns="0" bIns="0" rtlCol="0" anchor="t">
            <a:spAutoFit/>
          </a:bodyPr>
          <a:lstStyle/>
          <a:p>
            <a:pPr marL="0" indent="0" algn="l">
              <a:lnSpc>
                <a:spcPct val="88000"/>
              </a:lnSpc>
              <a:buNone/>
            </a:pPr>
            <a:r>
              <a:rPr lang="en-US" sz="2450" b="1" dirty="0">
                <a:solidFill>
                  <a:srgbClr val="FFFFFF"/>
                </a:solidFill>
                <a:latin typeface="Arial" panose="020B0604020202020204" pitchFamily="34" charset="0"/>
                <a:ea typeface="Cardo Bold" pitchFamily="34" charset="-122"/>
                <a:cs typeface="Arial" panose="020B0604020202020204" pitchFamily="34" charset="0"/>
              </a:rPr>
              <a:t>The “Delivery” Dashboard</a:t>
            </a:r>
            <a:endParaRPr lang="en-US" sz="2450" dirty="0">
              <a:latin typeface="Arial" panose="020B0604020202020204" pitchFamily="34" charset="0"/>
              <a:cs typeface="Arial" panose="020B0604020202020204" pitchFamily="34" charset="0"/>
            </a:endParaRPr>
          </a:p>
        </p:txBody>
      </p:sp>
      <p:sp>
        <p:nvSpPr>
          <p:cNvPr id="18" name="Text 15"/>
          <p:cNvSpPr/>
          <p:nvPr/>
        </p:nvSpPr>
        <p:spPr>
          <a:xfrm>
            <a:off x="4907319" y="1283052"/>
            <a:ext cx="2398092" cy="176074"/>
          </a:xfrm>
          <a:prstGeom prst="rect">
            <a:avLst/>
          </a:prstGeom>
          <a:noFill/>
          <a:ln/>
        </p:spPr>
        <p:txBody>
          <a:bodyPr wrap="none" lIns="0" tIns="0" rIns="0" bIns="0" rtlCol="0" anchor="t">
            <a:spAutoFit/>
          </a:bodyPr>
          <a:lstStyle/>
          <a:p>
            <a:pPr>
              <a:lnSpc>
                <a:spcPct val="120000"/>
              </a:lnSpc>
            </a:pPr>
            <a:r>
              <a:rPr lang="en-US" sz="1050" dirty="0">
                <a:solidFill>
                  <a:srgbClr val="FFFFFF"/>
                </a:solidFill>
                <a:latin typeface="Arial" panose="020B0604020202020204" pitchFamily="34" charset="0"/>
                <a:ea typeface="Inter" pitchFamily="34" charset="-122"/>
                <a:cs typeface="Arial" panose="020B0604020202020204" pitchFamily="34" charset="0"/>
              </a:rPr>
              <a:t>"Is this project going to deliver on time?"</a:t>
            </a:r>
            <a:endParaRPr lang="en-US" sz="1050" dirty="0">
              <a:latin typeface="Arial" panose="020B0604020202020204" pitchFamily="34" charset="0"/>
              <a:cs typeface="Arial" panose="020B0604020202020204" pitchFamily="34" charset="0"/>
            </a:endParaRPr>
          </a:p>
        </p:txBody>
      </p:sp>
      <p:sp>
        <p:nvSpPr>
          <p:cNvPr id="19" name="Text 16"/>
          <p:cNvSpPr/>
          <p:nvPr/>
        </p:nvSpPr>
        <p:spPr>
          <a:xfrm>
            <a:off x="4954030" y="1603075"/>
            <a:ext cx="2903039" cy="757772"/>
          </a:xfrm>
          <a:prstGeom prst="rect">
            <a:avLst/>
          </a:prstGeom>
          <a:noFill/>
          <a:ln/>
        </p:spPr>
        <p:txBody>
          <a:bodyPr wrap="none" lIns="0" tIns="0" rIns="0" bIns="0" rtlCol="0" anchor="t">
            <a:spAutoFit/>
          </a:bodyPr>
          <a:lstStyle/>
          <a:p>
            <a:pPr marL="171450" indent="-171450">
              <a:lnSpc>
                <a:spcPct val="120000"/>
              </a:lnSpc>
              <a:buFont typeface="Arial" panose="020B0604020202020204" pitchFamily="34" charset="0"/>
              <a:buChar char="•"/>
            </a:pPr>
            <a:r>
              <a:rPr lang="en-US" sz="1050" dirty="0">
                <a:solidFill>
                  <a:srgbClr val="FFFFFF"/>
                </a:solidFill>
                <a:latin typeface="Arial" panose="020B0604020202020204" pitchFamily="34" charset="0"/>
                <a:ea typeface="Inter Light" pitchFamily="34" charset="-122"/>
                <a:cs typeface="Arial" panose="020B0604020202020204" pitchFamily="34" charset="0"/>
              </a:rPr>
              <a:t>Overall status: Green / Amber / Red</a:t>
            </a:r>
          </a:p>
          <a:p>
            <a:pPr marL="171450" indent="-171450">
              <a:lnSpc>
                <a:spcPct val="120000"/>
              </a:lnSpc>
              <a:buFont typeface="Arial" panose="020B0604020202020204" pitchFamily="34" charset="0"/>
              <a:buChar char="•"/>
            </a:pPr>
            <a:r>
              <a:rPr lang="en-US" sz="1050" dirty="0">
                <a:solidFill>
                  <a:srgbClr val="FFFFFF"/>
                </a:solidFill>
                <a:latin typeface="Arial" panose="020B0604020202020204" pitchFamily="34" charset="0"/>
                <a:ea typeface="Inter Light" pitchFamily="34" charset="-122"/>
                <a:cs typeface="Arial" panose="020B0604020202020204" pitchFamily="34" charset="0"/>
              </a:rPr>
              <a:t>% complete, story points burned vs remaining</a:t>
            </a:r>
          </a:p>
          <a:p>
            <a:pPr marL="171450" indent="-171450">
              <a:lnSpc>
                <a:spcPct val="120000"/>
              </a:lnSpc>
              <a:buFont typeface="Arial" panose="020B0604020202020204" pitchFamily="34" charset="0"/>
              <a:buChar char="•"/>
            </a:pPr>
            <a:r>
              <a:rPr lang="en-US" sz="1050" dirty="0">
                <a:solidFill>
                  <a:srgbClr val="FFFFFF"/>
                </a:solidFill>
                <a:latin typeface="Arial" panose="020B0604020202020204" pitchFamily="34" charset="0"/>
                <a:ea typeface="Inter Light" pitchFamily="34" charset="-122"/>
                <a:cs typeface="Arial" panose="020B0604020202020204" pitchFamily="34" charset="0"/>
              </a:rPr>
              <a:t>Active blockers &amp; upcoming milestones</a:t>
            </a:r>
          </a:p>
          <a:p>
            <a:pPr marL="171450" indent="-171450">
              <a:lnSpc>
                <a:spcPct val="120000"/>
              </a:lnSpc>
              <a:buFont typeface="Arial" panose="020B0604020202020204" pitchFamily="34" charset="0"/>
              <a:buChar char="•"/>
            </a:pPr>
            <a:r>
              <a:rPr lang="en-US" sz="1050" dirty="0">
                <a:solidFill>
                  <a:srgbClr val="FFFFFF"/>
                </a:solidFill>
                <a:latin typeface="Arial" panose="020B0604020202020204" pitchFamily="34" charset="0"/>
                <a:ea typeface="Inter Light" pitchFamily="34" charset="-122"/>
                <a:cs typeface="Arial" panose="020B0604020202020204" pitchFamily="34" charset="0"/>
              </a:rPr>
              <a:t>Used by: supervisors, clients, faculty HOD</a:t>
            </a:r>
          </a:p>
        </p:txBody>
      </p:sp>
      <p:sp>
        <p:nvSpPr>
          <p:cNvPr id="27" name="Text 24"/>
          <p:cNvSpPr/>
          <p:nvPr/>
        </p:nvSpPr>
        <p:spPr>
          <a:xfrm>
            <a:off x="7493794"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FFFFFF">
                    <a:alpha val="40000"/>
                  </a:srgbClr>
                </a:solidFill>
                <a:latin typeface="Arial" panose="020B0604020202020204" pitchFamily="34" charset="0"/>
                <a:ea typeface="Inter" pitchFamily="34" charset="-122"/>
                <a:cs typeface="Arial" panose="020B0604020202020204" pitchFamily="34" charset="0"/>
              </a:rPr>
              <a:t>SECTION 01 / PAGE 03</a:t>
            </a:r>
            <a:endParaRPr lang="en-US" sz="750" dirty="0">
              <a:latin typeface="Arial" panose="020B0604020202020204" pitchFamily="34" charset="0"/>
              <a:cs typeface="Arial" panose="020B0604020202020204" pitchFamily="34" charset="0"/>
            </a:endParaRPr>
          </a:p>
        </p:txBody>
      </p:sp>
      <p:sp>
        <p:nvSpPr>
          <p:cNvPr id="28" name="Text 4">
            <a:extLst>
              <a:ext uri="{FF2B5EF4-FFF2-40B4-BE49-F238E27FC236}">
                <a16:creationId xmlns:a16="http://schemas.microsoft.com/office/drawing/2014/main" id="{12A2BC04-2FBB-DCAD-A2F6-7C087CD49DCF}"/>
              </a:ext>
            </a:extLst>
          </p:cNvPr>
          <p:cNvSpPr/>
          <p:nvPr/>
        </p:nvSpPr>
        <p:spPr>
          <a:xfrm>
            <a:off x="581326" y="1020490"/>
            <a:ext cx="1675139" cy="176074"/>
          </a:xfrm>
          <a:prstGeom prst="rect">
            <a:avLst/>
          </a:prstGeom>
          <a:noFill/>
          <a:ln/>
        </p:spPr>
        <p:txBody>
          <a:bodyPr wrap="none" lIns="0" tIns="0" rIns="0" bIns="0" rtlCol="0" anchor="t">
            <a:spAutoFit/>
          </a:bodyPr>
          <a:lstStyle/>
          <a:p>
            <a:pPr>
              <a:lnSpc>
                <a:spcPct val="120000"/>
              </a:lnSpc>
            </a:pPr>
            <a:r>
              <a:rPr lang="en-US" sz="1050" b="1" dirty="0">
                <a:solidFill>
                  <a:srgbClr val="121A5D"/>
                </a:solidFill>
                <a:latin typeface="Arial" panose="020B0604020202020204" pitchFamily="34" charset="0"/>
                <a:ea typeface="Inter Light" pitchFamily="34" charset="-122"/>
                <a:cs typeface="Arial" panose="020B0604020202020204" pitchFamily="34" charset="0"/>
              </a:rPr>
              <a:t>For the development team</a:t>
            </a:r>
            <a:endParaRPr lang="en-US" sz="1050" b="1" dirty="0">
              <a:latin typeface="Arial" panose="020B0604020202020204" pitchFamily="34" charset="0"/>
              <a:cs typeface="Arial" panose="020B0604020202020204" pitchFamily="34" charset="0"/>
            </a:endParaRPr>
          </a:p>
        </p:txBody>
      </p:sp>
      <p:sp>
        <p:nvSpPr>
          <p:cNvPr id="29" name="Text 15">
            <a:extLst>
              <a:ext uri="{FF2B5EF4-FFF2-40B4-BE49-F238E27FC236}">
                <a16:creationId xmlns:a16="http://schemas.microsoft.com/office/drawing/2014/main" id="{7B4918DE-F4C6-5718-87D6-439ED2567DC0}"/>
              </a:ext>
            </a:extLst>
          </p:cNvPr>
          <p:cNvSpPr/>
          <p:nvPr/>
        </p:nvSpPr>
        <p:spPr>
          <a:xfrm>
            <a:off x="4901177" y="1014305"/>
            <a:ext cx="2021387" cy="176074"/>
          </a:xfrm>
          <a:prstGeom prst="rect">
            <a:avLst/>
          </a:prstGeom>
          <a:noFill/>
          <a:ln/>
        </p:spPr>
        <p:txBody>
          <a:bodyPr wrap="none" lIns="0" tIns="0" rIns="0" bIns="0" rtlCol="0" anchor="t">
            <a:spAutoFit/>
          </a:bodyPr>
          <a:lstStyle/>
          <a:p>
            <a:pPr>
              <a:lnSpc>
                <a:spcPct val="120000"/>
              </a:lnSpc>
            </a:pPr>
            <a:r>
              <a:rPr lang="en-US" sz="1050" b="1" dirty="0">
                <a:solidFill>
                  <a:srgbClr val="FFFFFF"/>
                </a:solidFill>
                <a:latin typeface="Arial" panose="020B0604020202020204" pitchFamily="34" charset="0"/>
                <a:ea typeface="Inter" pitchFamily="34" charset="-122"/>
                <a:cs typeface="Arial" panose="020B0604020202020204" pitchFamily="34" charset="0"/>
              </a:rPr>
              <a:t>For stakeholders &amp; supervisors</a:t>
            </a:r>
            <a:endParaRPr lang="en-US" sz="1050" b="1" dirty="0">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79AA871-29B0-D165-163A-4E917737B36C}"/>
              </a:ext>
            </a:extLst>
          </p:cNvPr>
          <p:cNvPicPr>
            <a:picLocks noChangeAspect="1"/>
          </p:cNvPicPr>
          <p:nvPr/>
        </p:nvPicPr>
        <p:blipFill>
          <a:blip r:embed="rId4"/>
          <a:srcRect l="3367" t="5651"/>
          <a:stretch>
            <a:fillRect/>
          </a:stretch>
        </p:blipFill>
        <p:spPr>
          <a:xfrm>
            <a:off x="163286" y="2519464"/>
            <a:ext cx="4264090" cy="2340722"/>
          </a:xfrm>
          <a:prstGeom prst="rect">
            <a:avLst/>
          </a:prstGeom>
        </p:spPr>
      </p:pic>
      <p:pic>
        <p:nvPicPr>
          <p:cNvPr id="33" name="Picture 32">
            <a:extLst>
              <a:ext uri="{FF2B5EF4-FFF2-40B4-BE49-F238E27FC236}">
                <a16:creationId xmlns:a16="http://schemas.microsoft.com/office/drawing/2014/main" id="{EB2692A6-12E0-79A1-3C66-AB5E65C376D7}"/>
              </a:ext>
            </a:extLst>
          </p:cNvPr>
          <p:cNvPicPr>
            <a:picLocks noChangeAspect="1"/>
          </p:cNvPicPr>
          <p:nvPr/>
        </p:nvPicPr>
        <p:blipFill>
          <a:blip r:embed="rId5"/>
          <a:srcRect l="3061" t="5651"/>
          <a:stretch>
            <a:fillRect/>
          </a:stretch>
        </p:blipFill>
        <p:spPr>
          <a:xfrm>
            <a:off x="4740315" y="2521939"/>
            <a:ext cx="4291712" cy="23484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4411849" cy="446917"/>
          </a:xfrm>
          <a:prstGeom prst="rect">
            <a:avLst/>
          </a:prstGeom>
          <a:noFill/>
          <a:ln/>
        </p:spPr>
        <p:txBody>
          <a:bodyPr wrap="none" lIns="0" tIns="0" rIns="0" bIns="0" rtlCol="0" anchor="t">
            <a:spAutoFit/>
          </a:bodyPr>
          <a:lstStyle/>
          <a:p>
            <a:pPr marL="0" indent="0" algn="l">
              <a:lnSpc>
                <a:spcPct val="88000"/>
              </a:lnSpc>
              <a:buNone/>
            </a:pPr>
            <a:r>
              <a:rPr lang="en-US" sz="3300" b="1" dirty="0">
                <a:solidFill>
                  <a:srgbClr val="121A5D"/>
                </a:solidFill>
                <a:latin typeface="Arial" panose="020B0604020202020204" pitchFamily="34" charset="0"/>
                <a:ea typeface="Cardo Bold" pitchFamily="34" charset="-122"/>
                <a:cs typeface="Arial" panose="020B0604020202020204" pitchFamily="34" charset="0"/>
              </a:rPr>
              <a:t>Timeline Management</a:t>
            </a:r>
            <a:endParaRPr lang="en-US" sz="3300" dirty="0">
              <a:latin typeface="Arial" panose="020B0604020202020204" pitchFamily="34" charset="0"/>
              <a:cs typeface="Arial" panose="020B0604020202020204" pitchFamily="34" charset="0"/>
            </a:endParaRPr>
          </a:p>
        </p:txBody>
      </p:sp>
      <p:sp>
        <p:nvSpPr>
          <p:cNvPr id="4" name="Text 1"/>
          <p:cNvSpPr/>
          <p:nvPr/>
        </p:nvSpPr>
        <p:spPr>
          <a:xfrm>
            <a:off x="571500" y="1217284"/>
            <a:ext cx="8001000" cy="146194"/>
          </a:xfrm>
          <a:prstGeom prst="rect">
            <a:avLst/>
          </a:prstGeom>
          <a:noFill/>
          <a:ln/>
        </p:spPr>
        <p:txBody>
          <a:bodyPr wrap="square" lIns="0" tIns="0" rIns="0" bIns="0" rtlCol="0" anchor="t">
            <a:spAutoFit/>
          </a:bodyPr>
          <a:lstStyle/>
          <a:p>
            <a:pPr marL="0" indent="0" algn="l">
              <a:buNone/>
            </a:pPr>
            <a:r>
              <a:rPr lang="en-US" sz="950" kern="0" spc="2" dirty="0">
                <a:solidFill>
                  <a:srgbClr val="0B6AE9"/>
                </a:solidFill>
                <a:latin typeface="Arial" panose="020B0604020202020204" pitchFamily="34" charset="0"/>
                <a:ea typeface="Inter" pitchFamily="34" charset="-122"/>
                <a:cs typeface="Arial" panose="020B0604020202020204" pitchFamily="34" charset="0"/>
              </a:rPr>
              <a:t>STATUS COMMUNICATION STANDARDS</a:t>
            </a:r>
            <a:endParaRPr lang="en-US" sz="950" dirty="0">
              <a:latin typeface="Arial" panose="020B0604020202020204" pitchFamily="34" charset="0"/>
              <a:cs typeface="Arial" panose="020B0604020202020204" pitchFamily="34" charset="0"/>
            </a:endParaRPr>
          </a:p>
        </p:txBody>
      </p:sp>
      <p:sp>
        <p:nvSpPr>
          <p:cNvPr id="5" name="Text 2"/>
          <p:cNvSpPr/>
          <p:nvPr/>
        </p:nvSpPr>
        <p:spPr>
          <a:xfrm>
            <a:off x="571500" y="1686985"/>
            <a:ext cx="2400300"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On Track</a:t>
            </a:r>
            <a:endParaRPr lang="en-US" sz="1400" dirty="0">
              <a:latin typeface="Arial" panose="020B0604020202020204" pitchFamily="34" charset="0"/>
              <a:cs typeface="Arial" panose="020B0604020202020204" pitchFamily="34" charset="0"/>
            </a:endParaRPr>
          </a:p>
        </p:txBody>
      </p:sp>
      <p:sp>
        <p:nvSpPr>
          <p:cNvPr id="6" name="Text 3"/>
          <p:cNvSpPr/>
          <p:nvPr/>
        </p:nvSpPr>
        <p:spPr>
          <a:xfrm>
            <a:off x="571500" y="2029885"/>
            <a:ext cx="2400300" cy="334772"/>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Proceeding as planned with no known risks to the critical path.</a:t>
            </a:r>
            <a:endParaRPr lang="en-US" sz="950" dirty="0">
              <a:latin typeface="Arial" panose="020B0604020202020204" pitchFamily="34" charset="0"/>
              <a:cs typeface="Arial" panose="020B0604020202020204" pitchFamily="34" charset="0"/>
            </a:endParaRPr>
          </a:p>
        </p:txBody>
      </p:sp>
      <p:sp>
        <p:nvSpPr>
          <p:cNvPr id="7" name="Text 4"/>
          <p:cNvSpPr/>
          <p:nvPr/>
        </p:nvSpPr>
        <p:spPr>
          <a:xfrm>
            <a:off x="3371850" y="1686985"/>
            <a:ext cx="2400300"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At Risk</a:t>
            </a:r>
            <a:endParaRPr lang="en-US" sz="1400" dirty="0">
              <a:latin typeface="Arial" panose="020B0604020202020204" pitchFamily="34" charset="0"/>
              <a:cs typeface="Arial" panose="020B0604020202020204" pitchFamily="34" charset="0"/>
            </a:endParaRPr>
          </a:p>
        </p:txBody>
      </p:sp>
      <p:sp>
        <p:nvSpPr>
          <p:cNvPr id="8" name="Text 5"/>
          <p:cNvSpPr/>
          <p:nvPr/>
        </p:nvSpPr>
        <p:spPr>
          <a:xfrm>
            <a:off x="3371850" y="2029885"/>
            <a:ext cx="2400300" cy="334772"/>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Facing potential delays; mitigation strategies are currently in progress.</a:t>
            </a:r>
            <a:endParaRPr lang="en-US" sz="950" dirty="0">
              <a:latin typeface="Arial" panose="020B0604020202020204" pitchFamily="34" charset="0"/>
              <a:cs typeface="Arial" panose="020B0604020202020204" pitchFamily="34" charset="0"/>
            </a:endParaRPr>
          </a:p>
        </p:txBody>
      </p:sp>
      <p:sp>
        <p:nvSpPr>
          <p:cNvPr id="9" name="Text 6"/>
          <p:cNvSpPr/>
          <p:nvPr/>
        </p:nvSpPr>
        <p:spPr>
          <a:xfrm>
            <a:off x="6172200" y="1686985"/>
            <a:ext cx="2400300"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Off Track</a:t>
            </a:r>
            <a:endParaRPr lang="en-US" sz="1400" dirty="0">
              <a:latin typeface="Arial" panose="020B0604020202020204" pitchFamily="34" charset="0"/>
              <a:cs typeface="Arial" panose="020B0604020202020204" pitchFamily="34" charset="0"/>
            </a:endParaRPr>
          </a:p>
        </p:txBody>
      </p:sp>
      <p:sp>
        <p:nvSpPr>
          <p:cNvPr id="10" name="Text 7"/>
          <p:cNvSpPr/>
          <p:nvPr/>
        </p:nvSpPr>
        <p:spPr>
          <a:xfrm>
            <a:off x="6172200" y="2029885"/>
            <a:ext cx="2400300" cy="334772"/>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Milestone missed or critical delay; immediate executive intervention required.</a:t>
            </a:r>
            <a:endParaRPr lang="en-US" sz="950" dirty="0">
              <a:latin typeface="Arial" panose="020B0604020202020204" pitchFamily="34" charset="0"/>
              <a:cs typeface="Arial" panose="020B0604020202020204" pitchFamily="34" charset="0"/>
            </a:endParaRPr>
          </a:p>
        </p:txBody>
      </p:sp>
      <p:sp>
        <p:nvSpPr>
          <p:cNvPr id="11" name="Text 8"/>
          <p:cNvSpPr/>
          <p:nvPr/>
        </p:nvSpPr>
        <p:spPr>
          <a:xfrm>
            <a:off x="571500" y="2965717"/>
            <a:ext cx="8001000" cy="146194"/>
          </a:xfrm>
          <a:prstGeom prst="rect">
            <a:avLst/>
          </a:prstGeom>
          <a:noFill/>
          <a:ln/>
        </p:spPr>
        <p:txBody>
          <a:bodyPr wrap="square" lIns="0" tIns="0" rIns="0" bIns="0" rtlCol="0" anchor="t">
            <a:spAutoFit/>
          </a:bodyPr>
          <a:lstStyle/>
          <a:p>
            <a:pPr marL="0" indent="0" algn="l">
              <a:buNone/>
            </a:pPr>
            <a:r>
              <a:rPr lang="en-US" sz="950" kern="0" spc="2" dirty="0">
                <a:solidFill>
                  <a:srgbClr val="0B6AE9"/>
                </a:solidFill>
                <a:latin typeface="Arial" panose="020B0604020202020204" pitchFamily="34" charset="0"/>
                <a:ea typeface="Inter" pitchFamily="34" charset="-122"/>
                <a:cs typeface="Arial" panose="020B0604020202020204" pitchFamily="34" charset="0"/>
              </a:rPr>
              <a:t>EXECUTIVE REPORTING EXAMPLE</a:t>
            </a:r>
            <a:endParaRPr lang="en-US" sz="950" dirty="0">
              <a:latin typeface="Arial" panose="020B0604020202020204" pitchFamily="34" charset="0"/>
              <a:cs typeface="Arial" panose="020B0604020202020204" pitchFamily="34" charset="0"/>
            </a:endParaRPr>
          </a:p>
        </p:txBody>
      </p:sp>
      <p:sp>
        <p:nvSpPr>
          <p:cNvPr id="12" name="Shape 9"/>
          <p:cNvSpPr/>
          <p:nvPr/>
        </p:nvSpPr>
        <p:spPr>
          <a:xfrm>
            <a:off x="571500" y="3263968"/>
            <a:ext cx="8001000" cy="1428750"/>
          </a:xfrm>
          <a:prstGeom prst="rect">
            <a:avLst/>
          </a:prstGeom>
          <a:solidFill>
            <a:srgbClr val="F8F9FA"/>
          </a:solidFill>
          <a:ln/>
        </p:spPr>
      </p:sp>
      <p:sp>
        <p:nvSpPr>
          <p:cNvPr id="13" name="Text 10"/>
          <p:cNvSpPr/>
          <p:nvPr/>
        </p:nvSpPr>
        <p:spPr>
          <a:xfrm>
            <a:off x="857250" y="3478281"/>
            <a:ext cx="3343275" cy="184666"/>
          </a:xfrm>
          <a:prstGeom prst="rect">
            <a:avLst/>
          </a:prstGeom>
          <a:noFill/>
          <a:ln/>
        </p:spPr>
        <p:txBody>
          <a:bodyPr wrap="square" lIns="0" tIns="0" rIns="0" bIns="0" rtlCol="0" anchor="t">
            <a:spAutoFit/>
          </a:bodyPr>
          <a:lstStyle/>
          <a:p>
            <a:pPr marL="0" indent="0" algn="l">
              <a:buNone/>
            </a:pPr>
            <a:r>
              <a:rPr lang="en-US" sz="1200" b="1" dirty="0">
                <a:solidFill>
                  <a:srgbClr val="A0AEC0"/>
                </a:solidFill>
                <a:latin typeface="Arial" panose="020B0604020202020204" pitchFamily="34" charset="0"/>
                <a:ea typeface="Cardo Bold" pitchFamily="34" charset="-122"/>
                <a:cs typeface="Arial" panose="020B0604020202020204" pitchFamily="34" charset="0"/>
              </a:rPr>
              <a:t>Standard Reporting</a:t>
            </a:r>
            <a:endParaRPr lang="en-US" sz="1200" dirty="0">
              <a:latin typeface="Arial" panose="020B0604020202020204" pitchFamily="34" charset="0"/>
              <a:cs typeface="Arial" panose="020B0604020202020204" pitchFamily="34" charset="0"/>
            </a:endParaRPr>
          </a:p>
        </p:txBody>
      </p:sp>
      <p:sp>
        <p:nvSpPr>
          <p:cNvPr id="14" name="Text 11"/>
          <p:cNvSpPr/>
          <p:nvPr/>
        </p:nvSpPr>
        <p:spPr>
          <a:xfrm>
            <a:off x="857250" y="3817609"/>
            <a:ext cx="3343275" cy="355225"/>
          </a:xfrm>
          <a:prstGeom prst="rect">
            <a:avLst/>
          </a:prstGeom>
          <a:noFill/>
          <a:ln/>
        </p:spPr>
        <p:txBody>
          <a:bodyPr wrap="square" lIns="0" tIns="0" rIns="0" bIns="0" rtlCol="0" anchor="t">
            <a:spAutoFit/>
          </a:bodyPr>
          <a:lstStyle/>
          <a:p>
            <a:pPr marL="0" indent="0" algn="l">
              <a:lnSpc>
                <a:spcPct val="128000"/>
              </a:lnSpc>
              <a:buNone/>
            </a:pPr>
            <a:r>
              <a:rPr lang="en-US" sz="950" i="1" dirty="0">
                <a:solidFill>
                  <a:srgbClr val="4A5568"/>
                </a:solidFill>
                <a:latin typeface="Arial" panose="020B0604020202020204" pitchFamily="34" charset="0"/>
                <a:ea typeface="Inter" pitchFamily="34" charset="-122"/>
                <a:cs typeface="Arial" panose="020B0604020202020204" pitchFamily="34" charset="0"/>
              </a:rPr>
              <a:t>"We are working on the database schema and it's taking a bit longer than we thought it would."</a:t>
            </a:r>
            <a:endParaRPr lang="en-US" sz="950" dirty="0">
              <a:latin typeface="Arial" panose="020B0604020202020204" pitchFamily="34" charset="0"/>
              <a:cs typeface="Arial" panose="020B0604020202020204" pitchFamily="34" charset="0"/>
            </a:endParaRPr>
          </a:p>
        </p:txBody>
      </p:sp>
      <p:sp>
        <p:nvSpPr>
          <p:cNvPr id="15" name="Text 12"/>
          <p:cNvSpPr/>
          <p:nvPr/>
        </p:nvSpPr>
        <p:spPr>
          <a:xfrm>
            <a:off x="4943475" y="3478281"/>
            <a:ext cx="3343275" cy="184666"/>
          </a:xfrm>
          <a:prstGeom prst="rect">
            <a:avLst/>
          </a:prstGeom>
          <a:noFill/>
          <a:ln/>
        </p:spPr>
        <p:txBody>
          <a:bodyPr wrap="square" lIns="0" tIns="0" rIns="0" bIns="0" rtlCol="0" anchor="t">
            <a:spAutoFit/>
          </a:bodyPr>
          <a:lstStyle/>
          <a:p>
            <a:pPr marL="0" indent="0" algn="l">
              <a:buNone/>
            </a:pPr>
            <a:r>
              <a:rPr lang="en-US" sz="1200" b="1" dirty="0">
                <a:solidFill>
                  <a:srgbClr val="0B6AE9"/>
                </a:solidFill>
                <a:latin typeface="Arial" panose="020B0604020202020204" pitchFamily="34" charset="0"/>
                <a:ea typeface="Cardo Bold" pitchFamily="34" charset="-122"/>
                <a:cs typeface="Arial" panose="020B0604020202020204" pitchFamily="34" charset="0"/>
              </a:rPr>
              <a:t>Premium Reporting</a:t>
            </a:r>
            <a:endParaRPr lang="en-US" sz="1200" dirty="0">
              <a:latin typeface="Arial" panose="020B0604020202020204" pitchFamily="34" charset="0"/>
              <a:cs typeface="Arial" panose="020B0604020202020204" pitchFamily="34" charset="0"/>
            </a:endParaRPr>
          </a:p>
        </p:txBody>
      </p:sp>
      <p:sp>
        <p:nvSpPr>
          <p:cNvPr id="16" name="Text 13"/>
          <p:cNvSpPr/>
          <p:nvPr/>
        </p:nvSpPr>
        <p:spPr>
          <a:xfrm>
            <a:off x="4943475" y="3615798"/>
            <a:ext cx="3343275" cy="733791"/>
          </a:xfrm>
          <a:prstGeom prst="rect">
            <a:avLst/>
          </a:prstGeom>
          <a:noFill/>
          <a:ln/>
        </p:spPr>
        <p:txBody>
          <a:bodyPr wrap="square" lIns="0" tIns="0" rIns="0" bIns="0" rtlCol="0" anchor="t">
            <a:spAutoFit/>
          </a:bodyPr>
          <a:lstStyle/>
          <a:p>
            <a:pPr>
              <a:lnSpc>
                <a:spcPct val="128000"/>
              </a:lnSpc>
            </a:pPr>
            <a:br>
              <a:rPr lang="en-US" sz="950" dirty="0">
                <a:solidFill>
                  <a:srgbClr val="121A5D"/>
                </a:solidFill>
                <a:latin typeface="Arial" panose="020B0604020202020204" pitchFamily="34" charset="0"/>
                <a:ea typeface="Inter" pitchFamily="34" charset="-122"/>
                <a:cs typeface="Arial" panose="020B0604020202020204" pitchFamily="34" charset="0"/>
              </a:rPr>
            </a:br>
            <a:r>
              <a:rPr lang="en-US" sz="950" dirty="0">
                <a:solidFill>
                  <a:srgbClr val="121A5D"/>
                </a:solidFill>
                <a:latin typeface="Arial" panose="020B0604020202020204" pitchFamily="34" charset="0"/>
                <a:ea typeface="Inter" pitchFamily="34" charset="-122"/>
                <a:cs typeface="Arial" panose="020B0604020202020204" pitchFamily="34" charset="0"/>
              </a:rPr>
              <a:t>“SF-12 is 3 days behind due to [reason]. This affects SF-15. We are [action] to recover [X] days. New launch date: [date]”</a:t>
            </a:r>
            <a:endParaRPr lang="en-US" sz="950" dirty="0">
              <a:latin typeface="Arial" panose="020B0604020202020204" pitchFamily="34" charset="0"/>
              <a:cs typeface="Arial" panose="020B0604020202020204" pitchFamily="34" charset="0"/>
            </a:endParaRPr>
          </a:p>
          <a:p>
            <a:pPr marL="0" indent="0" algn="l">
              <a:lnSpc>
                <a:spcPct val="128000"/>
              </a:lnSpc>
              <a:buNone/>
            </a:pPr>
            <a:endParaRPr lang="en-US" sz="950" dirty="0">
              <a:latin typeface="Arial" panose="020B0604020202020204" pitchFamily="34" charset="0"/>
              <a:cs typeface="Arial" panose="020B0604020202020204" pitchFamily="34" charset="0"/>
            </a:endParaRPr>
          </a:p>
        </p:txBody>
      </p:sp>
      <p:sp>
        <p:nvSpPr>
          <p:cNvPr id="17" name="Text 14"/>
          <p:cNvSpPr/>
          <p:nvPr/>
        </p:nvSpPr>
        <p:spPr>
          <a:xfrm>
            <a:off x="7492008"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SECTION 01 / PAGE 04</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3337452" cy="446917"/>
          </a:xfrm>
          <a:prstGeom prst="rect">
            <a:avLst/>
          </a:prstGeom>
          <a:noFill/>
          <a:ln/>
        </p:spPr>
        <p:txBody>
          <a:bodyPr wrap="none" lIns="0" tIns="0" rIns="0" bIns="0" rtlCol="0" anchor="t">
            <a:spAutoFit/>
          </a:bodyPr>
          <a:lstStyle/>
          <a:p>
            <a:pPr marL="0" indent="0" algn="l">
              <a:lnSpc>
                <a:spcPct val="88000"/>
              </a:lnSpc>
              <a:buNone/>
            </a:pPr>
            <a:r>
              <a:rPr lang="en-US" sz="3300" b="1" dirty="0">
                <a:solidFill>
                  <a:srgbClr val="121A5D"/>
                </a:solidFill>
                <a:latin typeface="Arial" panose="020B0604020202020204" pitchFamily="34" charset="0"/>
                <a:ea typeface="Cardo Bold" pitchFamily="34" charset="-122"/>
                <a:cs typeface="Arial" panose="020B0604020202020204" pitchFamily="34" charset="0"/>
              </a:rPr>
              <a:t>The Critical Path</a:t>
            </a:r>
            <a:endParaRPr lang="en-US" sz="3300" dirty="0">
              <a:latin typeface="Arial" panose="020B0604020202020204" pitchFamily="34" charset="0"/>
              <a:cs typeface="Arial" panose="020B0604020202020204" pitchFamily="34" charset="0"/>
            </a:endParaRPr>
          </a:p>
        </p:txBody>
      </p:sp>
      <p:sp>
        <p:nvSpPr>
          <p:cNvPr id="4" name="Text 1"/>
          <p:cNvSpPr/>
          <p:nvPr/>
        </p:nvSpPr>
        <p:spPr>
          <a:xfrm>
            <a:off x="571500" y="1217284"/>
            <a:ext cx="4943475" cy="146194"/>
          </a:xfrm>
          <a:prstGeom prst="rect">
            <a:avLst/>
          </a:prstGeom>
          <a:noFill/>
          <a:ln/>
        </p:spPr>
        <p:txBody>
          <a:bodyPr wrap="square" lIns="0" tIns="0" rIns="0" bIns="0" rtlCol="0" anchor="t">
            <a:spAutoFit/>
          </a:bodyPr>
          <a:lstStyle/>
          <a:p>
            <a:pPr marL="0" indent="0" algn="l">
              <a:buNone/>
            </a:pPr>
            <a:r>
              <a:rPr lang="en-US" sz="950" kern="0" spc="2" dirty="0">
                <a:solidFill>
                  <a:srgbClr val="0B6AE9"/>
                </a:solidFill>
                <a:latin typeface="Arial" panose="020B0604020202020204" pitchFamily="34" charset="0"/>
                <a:ea typeface="Inter" pitchFamily="34" charset="-122"/>
                <a:cs typeface="Arial" panose="020B0604020202020204" pitchFamily="34" charset="0"/>
              </a:rPr>
              <a:t>CORE DEFINITION</a:t>
            </a:r>
            <a:endParaRPr lang="en-US" sz="950" dirty="0">
              <a:latin typeface="Arial" panose="020B0604020202020204" pitchFamily="34" charset="0"/>
              <a:cs typeface="Arial" panose="020B0604020202020204" pitchFamily="34" charset="0"/>
            </a:endParaRPr>
          </a:p>
        </p:txBody>
      </p:sp>
      <p:sp>
        <p:nvSpPr>
          <p:cNvPr id="5" name="Text 2"/>
          <p:cNvSpPr/>
          <p:nvPr/>
        </p:nvSpPr>
        <p:spPr>
          <a:xfrm>
            <a:off x="571500" y="1479817"/>
            <a:ext cx="4943475" cy="754758"/>
          </a:xfrm>
          <a:prstGeom prst="rect">
            <a:avLst/>
          </a:prstGeom>
          <a:noFill/>
          <a:ln/>
        </p:spPr>
        <p:txBody>
          <a:bodyPr wrap="square" lIns="212598" tIns="0" rIns="0" bIns="0" rtlCol="0" anchor="t">
            <a:spAutoFit/>
          </a:bodyPr>
          <a:lstStyle/>
          <a:p>
            <a:pPr marL="0" indent="0" algn="l">
              <a:lnSpc>
                <a:spcPct val="112000"/>
              </a:lnSpc>
              <a:buNone/>
            </a:pPr>
            <a:r>
              <a:rPr lang="en-US" sz="1500" dirty="0">
                <a:solidFill>
                  <a:srgbClr val="121A5D"/>
                </a:solidFill>
                <a:latin typeface="Arial" panose="020B0604020202020204" pitchFamily="34" charset="0"/>
                <a:ea typeface="Inter Light" pitchFamily="34" charset="-122"/>
                <a:cs typeface="Arial" panose="020B0604020202020204" pitchFamily="34" charset="0"/>
              </a:rPr>
              <a:t>The longest sequence of dependent tasks through a project which must be completed on time for the project to finish on its due date.</a:t>
            </a:r>
            <a:endParaRPr lang="en-US" sz="1500" dirty="0">
              <a:latin typeface="Arial" panose="020B0604020202020204" pitchFamily="34" charset="0"/>
              <a:cs typeface="Arial" panose="020B0604020202020204" pitchFamily="34" charset="0"/>
            </a:endParaRPr>
          </a:p>
        </p:txBody>
      </p:sp>
      <p:sp>
        <p:nvSpPr>
          <p:cNvPr id="6" name="Text 3"/>
          <p:cNvSpPr/>
          <p:nvPr/>
        </p:nvSpPr>
        <p:spPr>
          <a:xfrm>
            <a:off x="771525" y="2677092"/>
            <a:ext cx="4743450" cy="369973"/>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Any delay in a critical path task directly impacts the final project completion date.</a:t>
            </a:r>
            <a:endParaRPr lang="en-US" sz="1050" dirty="0">
              <a:latin typeface="Arial" panose="020B0604020202020204" pitchFamily="34" charset="0"/>
              <a:cs typeface="Arial" panose="020B0604020202020204" pitchFamily="34" charset="0"/>
            </a:endParaRPr>
          </a:p>
        </p:txBody>
      </p:sp>
      <p:sp>
        <p:nvSpPr>
          <p:cNvPr id="7" name="Text 4"/>
          <p:cNvSpPr/>
          <p:nvPr/>
        </p:nvSpPr>
        <p:spPr>
          <a:xfrm>
            <a:off x="771525" y="3284311"/>
            <a:ext cx="4743450" cy="369973"/>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Managing the critical path is the primary objective of professional execution tracking.</a:t>
            </a:r>
            <a:endParaRPr lang="en-US" sz="1050" dirty="0">
              <a:latin typeface="Arial" panose="020B0604020202020204" pitchFamily="34" charset="0"/>
              <a:cs typeface="Arial" panose="020B0604020202020204" pitchFamily="34" charset="0"/>
            </a:endParaRPr>
          </a:p>
        </p:txBody>
      </p:sp>
      <p:sp>
        <p:nvSpPr>
          <p:cNvPr id="8" name="Text 5"/>
          <p:cNvSpPr/>
          <p:nvPr/>
        </p:nvSpPr>
        <p:spPr>
          <a:xfrm>
            <a:off x="771525" y="3891530"/>
            <a:ext cx="4743450" cy="1390509"/>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Resources should be prioritized for these tasks to ensure zero variance from the baseline.</a:t>
            </a:r>
          </a:p>
          <a:p>
            <a:pPr marL="0" indent="0" algn="l">
              <a:lnSpc>
                <a:spcPct val="120000"/>
              </a:lnSpc>
              <a:buNone/>
            </a:pPr>
            <a:endParaRPr lang="en-US" sz="1050" dirty="0">
              <a:solidFill>
                <a:srgbClr val="121A5D"/>
              </a:solidFill>
              <a:latin typeface="Arial" panose="020B0604020202020204" pitchFamily="34" charset="0"/>
              <a:ea typeface="Inter Light" pitchFamily="34" charset="-122"/>
              <a:cs typeface="Arial" panose="020B0604020202020204" pitchFamily="34" charset="0"/>
            </a:endParaRPr>
          </a:p>
          <a:p>
            <a:pPr>
              <a:lnSpc>
                <a:spcPct val="120000"/>
              </a:lnSpc>
            </a:pPr>
            <a:r>
              <a:rPr lang="en-US" sz="1050" b="1" dirty="0">
                <a:solidFill>
                  <a:srgbClr val="002060"/>
                </a:solidFill>
                <a:latin typeface="Arial" panose="020B0604020202020204" pitchFamily="34" charset="0"/>
                <a:cs typeface="Arial" panose="020B0604020202020204" pitchFamily="34" charset="0"/>
              </a:rPr>
              <a:t>Path 1: A→B→D =&gt; 3 + 5 + 4 = 12 days  = CRITICAL</a:t>
            </a:r>
            <a:endParaRPr lang="en-US" sz="1050" dirty="0">
              <a:solidFill>
                <a:srgbClr val="002060"/>
              </a:solidFill>
              <a:latin typeface="Arial" panose="020B0604020202020204" pitchFamily="34" charset="0"/>
              <a:cs typeface="Arial" panose="020B0604020202020204" pitchFamily="34" charset="0"/>
            </a:endParaRPr>
          </a:p>
          <a:p>
            <a:pPr>
              <a:lnSpc>
                <a:spcPct val="120000"/>
              </a:lnSpc>
            </a:pPr>
            <a:r>
              <a:rPr lang="en-US" sz="1050" b="1" dirty="0">
                <a:solidFill>
                  <a:srgbClr val="002060"/>
                </a:solidFill>
                <a:latin typeface="Arial" panose="020B0604020202020204" pitchFamily="34" charset="0"/>
                <a:cs typeface="Arial" panose="020B0604020202020204" pitchFamily="34" charset="0"/>
              </a:rPr>
              <a:t>Path 2: A→C→D =&gt; </a:t>
            </a:r>
            <a:r>
              <a:rPr lang="en-US" sz="1050" dirty="0">
                <a:solidFill>
                  <a:srgbClr val="002060"/>
                </a:solidFill>
                <a:latin typeface="Arial" panose="020B0604020202020204" pitchFamily="34" charset="0"/>
                <a:cs typeface="Arial" panose="020B0604020202020204" pitchFamily="34" charset="0"/>
              </a:rPr>
              <a:t>3 + 2 + 4 = 9 days  (shorter)</a:t>
            </a:r>
          </a:p>
          <a:p>
            <a:pPr>
              <a:lnSpc>
                <a:spcPct val="120000"/>
              </a:lnSpc>
            </a:pPr>
            <a:endParaRPr lang="en-US" sz="1050" dirty="0">
              <a:latin typeface="Arial" panose="020B0604020202020204" pitchFamily="34" charset="0"/>
              <a:cs typeface="Arial" panose="020B0604020202020204" pitchFamily="34" charset="0"/>
            </a:endParaRPr>
          </a:p>
          <a:p>
            <a:pPr marL="0" indent="0" algn="l">
              <a:lnSpc>
                <a:spcPct val="120000"/>
              </a:lnSpc>
              <a:buNone/>
            </a:pPr>
            <a:endParaRPr lang="en-US" sz="1050" dirty="0">
              <a:latin typeface="Arial" panose="020B0604020202020204" pitchFamily="34" charset="0"/>
              <a:cs typeface="Arial" panose="020B0604020202020204" pitchFamily="34" charset="0"/>
            </a:endParaRPr>
          </a:p>
        </p:txBody>
      </p:sp>
      <p:sp>
        <p:nvSpPr>
          <p:cNvPr id="9" name="Shape 6"/>
          <p:cNvSpPr/>
          <p:nvPr/>
        </p:nvSpPr>
        <p:spPr>
          <a:xfrm>
            <a:off x="5943600" y="0"/>
            <a:ext cx="3200400" cy="5143500"/>
          </a:xfrm>
          <a:prstGeom prst="rect">
            <a:avLst/>
          </a:prstGeom>
          <a:solidFill>
            <a:srgbClr val="121A5D"/>
          </a:solidFill>
          <a:ln/>
        </p:spPr>
      </p:sp>
      <p:sp>
        <p:nvSpPr>
          <p:cNvPr id="10" name="Text 7"/>
          <p:cNvSpPr/>
          <p:nvPr/>
        </p:nvSpPr>
        <p:spPr>
          <a:xfrm>
            <a:off x="6300788" y="428625"/>
            <a:ext cx="2486025" cy="276999"/>
          </a:xfrm>
          <a:prstGeom prst="rect">
            <a:avLst/>
          </a:prstGeom>
          <a:noFill/>
          <a:ln/>
        </p:spPr>
        <p:txBody>
          <a:bodyPr wrap="square" lIns="0" tIns="0" rIns="0" bIns="0" rtlCol="0" anchor="t">
            <a:spAutoFit/>
          </a:bodyPr>
          <a:lstStyle/>
          <a:p>
            <a:pPr marL="0" indent="0" algn="l">
              <a:buNone/>
            </a:pPr>
            <a:r>
              <a:rPr lang="en-US" sz="1800" b="1" dirty="0">
                <a:solidFill>
                  <a:srgbClr val="FFFFFF"/>
                </a:solidFill>
                <a:latin typeface="Arial" panose="020B0604020202020204" pitchFamily="34" charset="0"/>
                <a:ea typeface="Cardo Bold" pitchFamily="34" charset="-122"/>
                <a:cs typeface="Arial" panose="020B0604020202020204" pitchFamily="34" charset="0"/>
              </a:rPr>
              <a:t>Case Study: SF-8</a:t>
            </a:r>
            <a:endParaRPr lang="en-US" sz="1800" dirty="0">
              <a:latin typeface="Arial" panose="020B0604020202020204" pitchFamily="34" charset="0"/>
              <a:cs typeface="Arial" panose="020B0604020202020204" pitchFamily="34" charset="0"/>
            </a:endParaRPr>
          </a:p>
        </p:txBody>
      </p:sp>
      <p:sp>
        <p:nvSpPr>
          <p:cNvPr id="11" name="Text 8"/>
          <p:cNvSpPr/>
          <p:nvPr/>
        </p:nvSpPr>
        <p:spPr>
          <a:xfrm>
            <a:off x="6300788" y="991195"/>
            <a:ext cx="2486025" cy="54232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FFFFF">
                    <a:alpha val="90000"/>
                  </a:srgbClr>
                </a:solidFill>
                <a:latin typeface="Arial" panose="020B0604020202020204" pitchFamily="34" charset="0"/>
                <a:ea typeface="Inter Light" pitchFamily="34" charset="-122"/>
                <a:cs typeface="Arial" panose="020B0604020202020204" pitchFamily="34" charset="0"/>
              </a:rPr>
              <a:t>The Database Schema (SF-8) serves as the technical foundation for all subsequent development chains.</a:t>
            </a:r>
            <a:endParaRPr lang="en-US" sz="950" dirty="0">
              <a:latin typeface="Arial" panose="020B0604020202020204" pitchFamily="34" charset="0"/>
              <a:cs typeface="Arial" panose="020B0604020202020204" pitchFamily="34" charset="0"/>
            </a:endParaRPr>
          </a:p>
        </p:txBody>
      </p:sp>
      <p:sp>
        <p:nvSpPr>
          <p:cNvPr id="12" name="Text 9"/>
          <p:cNvSpPr/>
          <p:nvPr/>
        </p:nvSpPr>
        <p:spPr>
          <a:xfrm>
            <a:off x="6300788" y="1865523"/>
            <a:ext cx="782265" cy="16812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0B6AE9"/>
                </a:solidFill>
                <a:latin typeface="Arial" panose="020B0604020202020204" pitchFamily="34" charset="0"/>
                <a:ea typeface="Inter" pitchFamily="34" charset="-122"/>
                <a:cs typeface="Arial" panose="020B0604020202020204" pitchFamily="34" charset="0"/>
              </a:rPr>
              <a:t>Current Status</a:t>
            </a:r>
            <a:endParaRPr lang="en-US" sz="950" dirty="0">
              <a:latin typeface="Arial" panose="020B0604020202020204" pitchFamily="34" charset="0"/>
              <a:cs typeface="Arial" panose="020B0604020202020204" pitchFamily="34" charset="0"/>
            </a:endParaRPr>
          </a:p>
        </p:txBody>
      </p:sp>
      <p:sp>
        <p:nvSpPr>
          <p:cNvPr id="13" name="Text 10"/>
          <p:cNvSpPr/>
          <p:nvPr/>
        </p:nvSpPr>
        <p:spPr>
          <a:xfrm>
            <a:off x="6300788" y="2131963"/>
            <a:ext cx="2224968" cy="16812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FFFFFF">
                    <a:alpha val="90000"/>
                  </a:srgbClr>
                </a:solidFill>
                <a:latin typeface="Arial" panose="020B0604020202020204" pitchFamily="34" charset="0"/>
                <a:ea typeface="Inter Light" pitchFamily="34" charset="-122"/>
                <a:cs typeface="Arial" panose="020B0604020202020204" pitchFamily="34" charset="0"/>
              </a:rPr>
              <a:t>In Progress with a 3-day variance against</a:t>
            </a:r>
            <a:endParaRPr lang="en-US" sz="950" dirty="0">
              <a:latin typeface="Arial" panose="020B0604020202020204" pitchFamily="34" charset="0"/>
              <a:cs typeface="Arial" panose="020B0604020202020204" pitchFamily="34" charset="0"/>
            </a:endParaRPr>
          </a:p>
        </p:txBody>
      </p:sp>
      <p:sp>
        <p:nvSpPr>
          <p:cNvPr id="14" name="Text 11"/>
          <p:cNvSpPr/>
          <p:nvPr/>
        </p:nvSpPr>
        <p:spPr>
          <a:xfrm>
            <a:off x="6300788" y="2337681"/>
            <a:ext cx="1112484" cy="16812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FFFFFF">
                    <a:alpha val="90000"/>
                  </a:srgbClr>
                </a:solidFill>
                <a:latin typeface="Arial" panose="020B0604020202020204" pitchFamily="34" charset="0"/>
                <a:ea typeface="Inter Light" pitchFamily="34" charset="-122"/>
                <a:cs typeface="Arial" panose="020B0604020202020204" pitchFamily="34" charset="0"/>
              </a:rPr>
              <a:t>the original baseline.</a:t>
            </a:r>
            <a:endParaRPr lang="en-US" sz="950" dirty="0">
              <a:latin typeface="Arial" panose="020B0604020202020204" pitchFamily="34" charset="0"/>
              <a:cs typeface="Arial" panose="020B0604020202020204" pitchFamily="34" charset="0"/>
            </a:endParaRPr>
          </a:p>
        </p:txBody>
      </p:sp>
      <p:sp>
        <p:nvSpPr>
          <p:cNvPr id="15" name="Text 12"/>
          <p:cNvSpPr/>
          <p:nvPr/>
        </p:nvSpPr>
        <p:spPr>
          <a:xfrm>
            <a:off x="6300788" y="2775570"/>
            <a:ext cx="876843" cy="16812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0B6AE9"/>
                </a:solidFill>
                <a:latin typeface="Arial" panose="020B0604020202020204" pitchFamily="34" charset="0"/>
                <a:ea typeface="Inter" pitchFamily="34" charset="-122"/>
                <a:cs typeface="Arial" panose="020B0604020202020204" pitchFamily="34" charset="0"/>
              </a:rPr>
              <a:t>Strategic Impact</a:t>
            </a:r>
            <a:endParaRPr lang="en-US" sz="950" dirty="0">
              <a:latin typeface="Arial" panose="020B0604020202020204" pitchFamily="34" charset="0"/>
              <a:cs typeface="Arial" panose="020B0604020202020204" pitchFamily="34" charset="0"/>
            </a:endParaRPr>
          </a:p>
        </p:txBody>
      </p:sp>
      <p:sp>
        <p:nvSpPr>
          <p:cNvPr id="16" name="Text 13"/>
          <p:cNvSpPr/>
          <p:nvPr/>
        </p:nvSpPr>
        <p:spPr>
          <a:xfrm>
            <a:off x="6300788" y="3042010"/>
            <a:ext cx="2069477" cy="16812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FFFFFF">
                    <a:alpha val="90000"/>
                  </a:srgbClr>
                </a:solidFill>
                <a:latin typeface="Arial" panose="020B0604020202020204" pitchFamily="34" charset="0"/>
                <a:ea typeface="Inter Light" pitchFamily="34" charset="-122"/>
                <a:cs typeface="Arial" panose="020B0604020202020204" pitchFamily="34" charset="0"/>
              </a:rPr>
              <a:t>This delay causes an immediate 3-day</a:t>
            </a:r>
            <a:endParaRPr lang="en-US" sz="950" dirty="0">
              <a:latin typeface="Arial" panose="020B0604020202020204" pitchFamily="34" charset="0"/>
              <a:cs typeface="Arial" panose="020B0604020202020204" pitchFamily="34" charset="0"/>
            </a:endParaRPr>
          </a:p>
        </p:txBody>
      </p:sp>
      <p:sp>
        <p:nvSpPr>
          <p:cNvPr id="17" name="Text 14"/>
          <p:cNvSpPr/>
          <p:nvPr/>
        </p:nvSpPr>
        <p:spPr>
          <a:xfrm>
            <a:off x="6300788" y="3247727"/>
            <a:ext cx="1962076" cy="16812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FFFFFF">
                    <a:alpha val="90000"/>
                  </a:srgbClr>
                </a:solidFill>
                <a:latin typeface="Arial" panose="020B0604020202020204" pitchFamily="34" charset="0"/>
                <a:ea typeface="Inter Light" pitchFamily="34" charset="-122"/>
                <a:cs typeface="Arial" panose="020B0604020202020204" pitchFamily="34" charset="0"/>
              </a:rPr>
              <a:t>slip to the final integration milestone.</a:t>
            </a:r>
            <a:endParaRPr lang="en-US" sz="950" dirty="0">
              <a:latin typeface="Arial" panose="020B0604020202020204" pitchFamily="34" charset="0"/>
              <a:cs typeface="Arial" panose="020B0604020202020204" pitchFamily="34" charset="0"/>
            </a:endParaRPr>
          </a:p>
        </p:txBody>
      </p:sp>
      <p:sp>
        <p:nvSpPr>
          <p:cNvPr id="18" name="Text 15"/>
          <p:cNvSpPr/>
          <p:nvPr/>
        </p:nvSpPr>
        <p:spPr>
          <a:xfrm>
            <a:off x="7692033"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FFFFFF">
                    <a:alpha val="40000"/>
                  </a:srgbClr>
                </a:solidFill>
                <a:latin typeface="Arial" panose="020B0604020202020204" pitchFamily="34" charset="0"/>
                <a:ea typeface="Inter" pitchFamily="34" charset="-122"/>
                <a:cs typeface="Arial" panose="020B0604020202020204" pitchFamily="34" charset="0"/>
              </a:rPr>
              <a:t>SECTION 02 / PAGE 05</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3657600" cy="5143500"/>
          </a:xfrm>
          <a:prstGeom prst="rect">
            <a:avLst/>
          </a:prstGeom>
          <a:solidFill>
            <a:srgbClr val="121A5D"/>
          </a:solidFill>
          <a:ln/>
        </p:spPr>
      </p:sp>
      <p:sp>
        <p:nvSpPr>
          <p:cNvPr id="4" name="Text 1"/>
          <p:cNvSpPr/>
          <p:nvPr/>
        </p:nvSpPr>
        <p:spPr>
          <a:xfrm>
            <a:off x="571500" y="428625"/>
            <a:ext cx="2800350" cy="115416"/>
          </a:xfrm>
          <a:prstGeom prst="rect">
            <a:avLst/>
          </a:prstGeom>
          <a:noFill/>
          <a:ln/>
        </p:spPr>
        <p:txBody>
          <a:bodyPr wrap="square" lIns="0" tIns="0" rIns="0" bIns="0" rtlCol="0" anchor="t">
            <a:spAutoFit/>
          </a:bodyPr>
          <a:lstStyle/>
          <a:p>
            <a:pPr marL="0" indent="0" algn="l">
              <a:buNone/>
            </a:pPr>
            <a:r>
              <a:rPr lang="en-US" sz="750" kern="0" spc="2" dirty="0">
                <a:solidFill>
                  <a:srgbClr val="FFFFFF">
                    <a:alpha val="60000"/>
                  </a:srgbClr>
                </a:solidFill>
                <a:latin typeface="Arial" panose="020B0604020202020204" pitchFamily="34" charset="0"/>
                <a:ea typeface="Inter" pitchFamily="34" charset="-122"/>
                <a:cs typeface="Arial" panose="020B0604020202020204" pitchFamily="34" charset="0"/>
              </a:rPr>
              <a:t>CORE CONCEPT</a:t>
            </a:r>
            <a:endParaRPr lang="en-US" sz="750" dirty="0">
              <a:latin typeface="Arial" panose="020B0604020202020204" pitchFamily="34" charset="0"/>
              <a:cs typeface="Arial" panose="020B0604020202020204" pitchFamily="34" charset="0"/>
            </a:endParaRPr>
          </a:p>
        </p:txBody>
      </p:sp>
      <p:sp>
        <p:nvSpPr>
          <p:cNvPr id="5" name="Text 2"/>
          <p:cNvSpPr/>
          <p:nvPr/>
        </p:nvSpPr>
        <p:spPr>
          <a:xfrm>
            <a:off x="571500" y="692944"/>
            <a:ext cx="2800350" cy="771878"/>
          </a:xfrm>
          <a:prstGeom prst="rect">
            <a:avLst/>
          </a:prstGeom>
          <a:noFill/>
          <a:ln/>
        </p:spPr>
        <p:txBody>
          <a:bodyPr wrap="square" lIns="0" tIns="0" rIns="0" bIns="0" rtlCol="0" anchor="t">
            <a:spAutoFit/>
          </a:bodyPr>
          <a:lstStyle/>
          <a:p>
            <a:pPr marL="0" indent="0" algn="l">
              <a:lnSpc>
                <a:spcPct val="88000"/>
              </a:lnSpc>
              <a:buNone/>
            </a:pPr>
            <a:r>
              <a:rPr lang="en-US" sz="2850" b="1" dirty="0">
                <a:solidFill>
                  <a:srgbClr val="FFFFFF"/>
                </a:solidFill>
                <a:latin typeface="Arial" panose="020B0604020202020204" pitchFamily="34" charset="0"/>
                <a:ea typeface="Cardo Bold" pitchFamily="34" charset="-122"/>
                <a:cs typeface="Arial" panose="020B0604020202020204" pitchFamily="34" charset="0"/>
              </a:rPr>
              <a:t>Understanding
Float (Slack)</a:t>
            </a:r>
            <a:endParaRPr lang="en-US" sz="2850" dirty="0">
              <a:latin typeface="Arial" panose="020B0604020202020204" pitchFamily="34" charset="0"/>
              <a:cs typeface="Arial" panose="020B0604020202020204" pitchFamily="34" charset="0"/>
            </a:endParaRPr>
          </a:p>
        </p:txBody>
      </p:sp>
      <p:sp>
        <p:nvSpPr>
          <p:cNvPr id="6" name="Text 3"/>
          <p:cNvSpPr/>
          <p:nvPr/>
        </p:nvSpPr>
        <p:spPr>
          <a:xfrm>
            <a:off x="571500" y="1858770"/>
            <a:ext cx="2800350" cy="671274"/>
          </a:xfrm>
          <a:prstGeom prst="rect">
            <a:avLst/>
          </a:prstGeom>
          <a:noFill/>
          <a:ln/>
        </p:spPr>
        <p:txBody>
          <a:bodyPr wrap="square" lIns="0" tIns="0" rIns="0" bIns="0" rtlCol="0" anchor="t">
            <a:spAutoFit/>
          </a:bodyPr>
          <a:lstStyle/>
          <a:p>
            <a:pPr marL="0" indent="0" algn="l">
              <a:lnSpc>
                <a:spcPct val="120000"/>
              </a:lnSpc>
              <a:buNone/>
            </a:pPr>
            <a:r>
              <a:rPr lang="en-US" sz="1250" dirty="0">
                <a:solidFill>
                  <a:srgbClr val="FFFFFF"/>
                </a:solidFill>
                <a:latin typeface="Arial" panose="020B0604020202020204" pitchFamily="34" charset="0"/>
                <a:ea typeface="Inter Light" pitchFamily="34" charset="-122"/>
                <a:cs typeface="Arial" panose="020B0604020202020204" pitchFamily="34" charset="0"/>
              </a:rPr>
              <a:t>The amount of time a task can be delayed without affecting the project's overall end date.</a:t>
            </a:r>
            <a:endParaRPr lang="en-US" sz="1250" dirty="0">
              <a:latin typeface="Arial" panose="020B0604020202020204" pitchFamily="34" charset="0"/>
              <a:cs typeface="Arial" panose="020B0604020202020204" pitchFamily="34" charset="0"/>
            </a:endParaRPr>
          </a:p>
        </p:txBody>
      </p:sp>
      <p:sp>
        <p:nvSpPr>
          <p:cNvPr id="7" name="Text 4"/>
          <p:cNvSpPr/>
          <p:nvPr/>
        </p:nvSpPr>
        <p:spPr>
          <a:xfrm>
            <a:off x="571500" y="3513386"/>
            <a:ext cx="2800350"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Arial" panose="020B0604020202020204" pitchFamily="34" charset="0"/>
                <a:ea typeface="Cardo Bold" pitchFamily="34" charset="-122"/>
                <a:cs typeface="Arial" panose="020B0604020202020204" pitchFamily="34" charset="0"/>
              </a:rPr>
              <a:t>The Executive Rule</a:t>
            </a:r>
            <a:endParaRPr lang="en-US" sz="1400" dirty="0">
              <a:latin typeface="Arial" panose="020B0604020202020204" pitchFamily="34" charset="0"/>
              <a:cs typeface="Arial" panose="020B0604020202020204" pitchFamily="34" charset="0"/>
            </a:endParaRPr>
          </a:p>
        </p:txBody>
      </p:sp>
      <p:sp>
        <p:nvSpPr>
          <p:cNvPr id="8" name="Text 5"/>
          <p:cNvSpPr/>
          <p:nvPr/>
        </p:nvSpPr>
        <p:spPr>
          <a:xfrm>
            <a:off x="571500" y="3892004"/>
            <a:ext cx="2800350" cy="54232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FFFFF">
                    <a:alpha val="80000"/>
                  </a:srgbClr>
                </a:solidFill>
                <a:latin typeface="Arial" panose="020B0604020202020204" pitchFamily="34" charset="0"/>
                <a:ea typeface="Inter Light" pitchFamily="34" charset="-122"/>
                <a:cs typeface="Arial" panose="020B0604020202020204" pitchFamily="34" charset="0"/>
              </a:rPr>
              <a:t>Protect the critical path at all costs; use float as a strategic buffer for non-critical risks. Tasks with zero float are, by definition, on the Critical Path.</a:t>
            </a:r>
            <a:endParaRPr lang="en-US" sz="950" dirty="0">
              <a:latin typeface="Arial" panose="020B0604020202020204" pitchFamily="34" charset="0"/>
              <a:cs typeface="Arial" panose="020B0604020202020204" pitchFamily="34" charset="0"/>
            </a:endParaRPr>
          </a:p>
        </p:txBody>
      </p:sp>
      <p:sp>
        <p:nvSpPr>
          <p:cNvPr id="9" name="Text 6"/>
          <p:cNvSpPr/>
          <p:nvPr/>
        </p:nvSpPr>
        <p:spPr>
          <a:xfrm>
            <a:off x="4086225" y="428625"/>
            <a:ext cx="4486275" cy="115416"/>
          </a:xfrm>
          <a:prstGeom prst="rect">
            <a:avLst/>
          </a:prstGeom>
          <a:noFill/>
          <a:ln/>
        </p:spPr>
        <p:txBody>
          <a:bodyPr wrap="square" lIns="0" tIns="0" rIns="0" bIns="0" rtlCol="0" anchor="t">
            <a:spAutoFit/>
          </a:bodyPr>
          <a:lstStyle/>
          <a:p>
            <a:pPr marL="0" indent="0" algn="l">
              <a:buNone/>
            </a:pPr>
            <a:r>
              <a:rPr lang="en-US" sz="750" kern="0" spc="2" dirty="0">
                <a:solidFill>
                  <a:srgbClr val="0B6AE9"/>
                </a:solidFill>
                <a:latin typeface="Arial" panose="020B0604020202020204" pitchFamily="34" charset="0"/>
                <a:ea typeface="Inter" pitchFamily="34" charset="-122"/>
                <a:cs typeface="Arial" panose="020B0604020202020204" pitchFamily="34" charset="0"/>
              </a:rPr>
              <a:t>CALCULATION LOGIC</a:t>
            </a:r>
            <a:endParaRPr lang="en-US" sz="750" dirty="0">
              <a:latin typeface="Arial" panose="020B0604020202020204" pitchFamily="34" charset="0"/>
              <a:cs typeface="Arial" panose="020B0604020202020204" pitchFamily="34" charset="0"/>
            </a:endParaRPr>
          </a:p>
        </p:txBody>
      </p:sp>
      <p:sp>
        <p:nvSpPr>
          <p:cNvPr id="10" name="Text 7"/>
          <p:cNvSpPr/>
          <p:nvPr/>
        </p:nvSpPr>
        <p:spPr>
          <a:xfrm>
            <a:off x="4086225" y="692944"/>
            <a:ext cx="4486275" cy="276999"/>
          </a:xfrm>
          <a:prstGeom prst="rect">
            <a:avLst/>
          </a:prstGeom>
          <a:noFill/>
          <a:ln/>
        </p:spPr>
        <p:txBody>
          <a:bodyPr wrap="square" lIns="0" tIns="0" rIns="0" bIns="0" rtlCol="0" anchor="t">
            <a:spAutoFit/>
          </a:bodyPr>
          <a:lstStyle/>
          <a:p>
            <a:pPr marL="0" indent="0" algn="l">
              <a:buNone/>
            </a:pPr>
            <a:r>
              <a:rPr lang="en-US" sz="1800" b="1" dirty="0">
                <a:solidFill>
                  <a:srgbClr val="121A5D"/>
                </a:solidFill>
                <a:latin typeface="Arial" panose="020B0604020202020204" pitchFamily="34" charset="0"/>
                <a:ea typeface="Cardo Bold" pitchFamily="34" charset="-122"/>
                <a:cs typeface="Arial" panose="020B0604020202020204" pitchFamily="34" charset="0"/>
              </a:rPr>
              <a:t>Strategic Buffer Analysis</a:t>
            </a:r>
            <a:endParaRPr lang="en-US" sz="1800" dirty="0">
              <a:latin typeface="Arial" panose="020B0604020202020204" pitchFamily="34" charset="0"/>
              <a:cs typeface="Arial" panose="020B0604020202020204" pitchFamily="34" charset="0"/>
            </a:endParaRPr>
          </a:p>
        </p:txBody>
      </p:sp>
      <p:sp>
        <p:nvSpPr>
          <p:cNvPr id="11" name="Text 8"/>
          <p:cNvSpPr/>
          <p:nvPr/>
        </p:nvSpPr>
        <p:spPr>
          <a:xfrm>
            <a:off x="4086225" y="1469827"/>
            <a:ext cx="1181414" cy="146194"/>
          </a:xfrm>
          <a:prstGeom prst="rect">
            <a:avLst/>
          </a:prstGeom>
          <a:noFill/>
          <a:ln/>
        </p:spPr>
        <p:txBody>
          <a:bodyPr wrap="none" lIns="0" tIns="0" rIns="0" bIns="0" rtlCol="0" anchor="t">
            <a:spAutoFit/>
          </a:bodyPr>
          <a:lstStyle/>
          <a:p>
            <a:pPr marL="0" indent="0" algn="l">
              <a:buNone/>
            </a:pPr>
            <a:r>
              <a:rPr lang="en-US" sz="950" dirty="0">
                <a:solidFill>
                  <a:srgbClr val="121A5D"/>
                </a:solidFill>
                <a:latin typeface="Arial" panose="020B0604020202020204" pitchFamily="34" charset="0"/>
                <a:ea typeface="Inter" pitchFamily="34" charset="-122"/>
                <a:cs typeface="Arial" panose="020B0604020202020204" pitchFamily="34" charset="0"/>
              </a:rPr>
              <a:t>Parallel Path (Task B)</a:t>
            </a:r>
            <a:endParaRPr lang="en-US" sz="950" dirty="0">
              <a:latin typeface="Arial" panose="020B0604020202020204" pitchFamily="34" charset="0"/>
              <a:cs typeface="Arial" panose="020B0604020202020204" pitchFamily="34" charset="0"/>
            </a:endParaRPr>
          </a:p>
        </p:txBody>
      </p:sp>
      <p:sp>
        <p:nvSpPr>
          <p:cNvPr id="12" name="Text 9"/>
          <p:cNvSpPr/>
          <p:nvPr/>
        </p:nvSpPr>
        <p:spPr>
          <a:xfrm>
            <a:off x="8158163" y="1469827"/>
            <a:ext cx="378309" cy="146194"/>
          </a:xfrm>
          <a:prstGeom prst="rect">
            <a:avLst/>
          </a:prstGeom>
          <a:noFill/>
          <a:ln/>
        </p:spPr>
        <p:txBody>
          <a:bodyPr wrap="none" lIns="0" tIns="0" rIns="0" bIns="0" rtlCol="0" anchor="t">
            <a:spAutoFit/>
          </a:bodyPr>
          <a:lstStyle/>
          <a:p>
            <a:pPr marL="0" indent="0" algn="l">
              <a:buNone/>
            </a:pPr>
            <a:r>
              <a:rPr lang="en-US" sz="950" dirty="0">
                <a:solidFill>
                  <a:srgbClr val="121A5D"/>
                </a:solidFill>
                <a:latin typeface="Arial" panose="020B0604020202020204" pitchFamily="34" charset="0"/>
                <a:ea typeface="Inter" pitchFamily="34" charset="-122"/>
                <a:cs typeface="Arial" panose="020B0604020202020204" pitchFamily="34" charset="0"/>
              </a:rPr>
              <a:t>5 Days</a:t>
            </a:r>
            <a:endParaRPr lang="en-US" sz="950" dirty="0">
              <a:latin typeface="Arial" panose="020B0604020202020204" pitchFamily="34" charset="0"/>
              <a:cs typeface="Arial" panose="020B0604020202020204" pitchFamily="34" charset="0"/>
            </a:endParaRPr>
          </a:p>
        </p:txBody>
      </p:sp>
      <p:sp>
        <p:nvSpPr>
          <p:cNvPr id="13" name="Shape 10"/>
          <p:cNvSpPr/>
          <p:nvPr/>
        </p:nvSpPr>
        <p:spPr>
          <a:xfrm>
            <a:off x="4086225" y="1732359"/>
            <a:ext cx="4486275" cy="285750"/>
          </a:xfrm>
          <a:prstGeom prst="rect">
            <a:avLst/>
          </a:prstGeom>
          <a:solidFill>
            <a:srgbClr val="F8F9FA"/>
          </a:solidFill>
          <a:ln/>
        </p:spPr>
      </p:sp>
      <p:sp>
        <p:nvSpPr>
          <p:cNvPr id="14" name="Text 11"/>
          <p:cNvSpPr/>
          <p:nvPr/>
        </p:nvSpPr>
        <p:spPr>
          <a:xfrm>
            <a:off x="4086225" y="2303859"/>
            <a:ext cx="1325166" cy="146194"/>
          </a:xfrm>
          <a:prstGeom prst="rect">
            <a:avLst/>
          </a:prstGeom>
          <a:noFill/>
          <a:ln/>
        </p:spPr>
        <p:txBody>
          <a:bodyPr wrap="square" lIns="0" tIns="0" rIns="0" bIns="0" rtlCol="0" anchor="t">
            <a:spAutoFit/>
          </a:bodyPr>
          <a:lstStyle/>
          <a:p>
            <a:pPr marL="0" indent="0" algn="l">
              <a:buNone/>
            </a:pPr>
            <a:r>
              <a:rPr lang="en-US" sz="950" dirty="0">
                <a:solidFill>
                  <a:srgbClr val="121A5D"/>
                </a:solidFill>
                <a:latin typeface="Arial" panose="020B0604020202020204" pitchFamily="34" charset="0"/>
                <a:ea typeface="Inter" pitchFamily="34" charset="-122"/>
                <a:cs typeface="Arial" panose="020B0604020202020204" pitchFamily="34" charset="0"/>
              </a:rPr>
              <a:t>Current Task (Task C)</a:t>
            </a:r>
            <a:endParaRPr lang="en-US" sz="950" dirty="0">
              <a:latin typeface="Arial" panose="020B0604020202020204" pitchFamily="34" charset="0"/>
              <a:cs typeface="Arial" panose="020B0604020202020204" pitchFamily="34" charset="0"/>
            </a:endParaRPr>
          </a:p>
        </p:txBody>
      </p:sp>
      <p:sp>
        <p:nvSpPr>
          <p:cNvPr id="15" name="Text 12"/>
          <p:cNvSpPr/>
          <p:nvPr/>
        </p:nvSpPr>
        <p:spPr>
          <a:xfrm>
            <a:off x="6831211" y="2303859"/>
            <a:ext cx="1741289" cy="146194"/>
          </a:xfrm>
          <a:prstGeom prst="rect">
            <a:avLst/>
          </a:prstGeom>
          <a:noFill/>
          <a:ln/>
        </p:spPr>
        <p:txBody>
          <a:bodyPr wrap="square" lIns="0" tIns="0" rIns="0" bIns="0" rtlCol="0" anchor="t">
            <a:spAutoFit/>
          </a:bodyPr>
          <a:lstStyle/>
          <a:p>
            <a:pPr marL="0" indent="0" algn="l">
              <a:buNone/>
            </a:pPr>
            <a:r>
              <a:rPr lang="en-US" sz="950" dirty="0">
                <a:solidFill>
                  <a:srgbClr val="121A5D"/>
                </a:solidFill>
                <a:latin typeface="Arial" panose="020B0604020202020204" pitchFamily="34" charset="0"/>
                <a:ea typeface="Inter" pitchFamily="34" charset="-122"/>
                <a:cs typeface="Arial" panose="020B0604020202020204" pitchFamily="34" charset="0"/>
              </a:rPr>
              <a:t>2 Days Active + 3 Days Float</a:t>
            </a:r>
            <a:endParaRPr lang="en-US" sz="950" dirty="0">
              <a:latin typeface="Arial" panose="020B0604020202020204" pitchFamily="34" charset="0"/>
              <a:cs typeface="Arial" panose="020B0604020202020204" pitchFamily="34" charset="0"/>
            </a:endParaRPr>
          </a:p>
        </p:txBody>
      </p:sp>
      <p:sp>
        <p:nvSpPr>
          <p:cNvPr id="16" name="Shape 13"/>
          <p:cNvSpPr/>
          <p:nvPr/>
        </p:nvSpPr>
        <p:spPr>
          <a:xfrm>
            <a:off x="4086225" y="2566392"/>
            <a:ext cx="4486275" cy="285750"/>
          </a:xfrm>
          <a:prstGeom prst="rect">
            <a:avLst/>
          </a:prstGeom>
          <a:solidFill>
            <a:srgbClr val="F8F9FA"/>
          </a:solidFill>
          <a:ln/>
        </p:spPr>
      </p:sp>
      <p:sp>
        <p:nvSpPr>
          <p:cNvPr id="17" name="Text 14"/>
          <p:cNvSpPr/>
          <p:nvPr/>
        </p:nvSpPr>
        <p:spPr>
          <a:xfrm>
            <a:off x="4086225" y="3359348"/>
            <a:ext cx="4486275" cy="130805"/>
          </a:xfrm>
          <a:prstGeom prst="rect">
            <a:avLst/>
          </a:prstGeom>
          <a:noFill/>
          <a:ln/>
        </p:spPr>
        <p:txBody>
          <a:bodyPr wrap="square" lIns="0" tIns="0" rIns="0" bIns="0" rtlCol="0" anchor="t">
            <a:spAutoFit/>
          </a:bodyPr>
          <a:lstStyle/>
          <a:p>
            <a:pPr marL="0" indent="0" algn="l">
              <a:buNone/>
            </a:pPr>
            <a:r>
              <a:rPr lang="en-US" sz="850" dirty="0">
                <a:solidFill>
                  <a:srgbClr val="4A5568"/>
                </a:solidFill>
                <a:latin typeface="Arial" panose="020B0604020202020204" pitchFamily="34" charset="0"/>
                <a:ea typeface="Inter" pitchFamily="34" charset="-122"/>
                <a:cs typeface="Arial" panose="020B0604020202020204" pitchFamily="34" charset="0"/>
              </a:rPr>
              <a:t>Calculation Result:</a:t>
            </a:r>
            <a:endParaRPr lang="en-US" sz="850" dirty="0">
              <a:latin typeface="Arial" panose="020B0604020202020204" pitchFamily="34" charset="0"/>
              <a:cs typeface="Arial" panose="020B0604020202020204" pitchFamily="34" charset="0"/>
            </a:endParaRPr>
          </a:p>
        </p:txBody>
      </p:sp>
      <p:sp>
        <p:nvSpPr>
          <p:cNvPr id="18" name="Text 15"/>
          <p:cNvSpPr/>
          <p:nvPr/>
        </p:nvSpPr>
        <p:spPr>
          <a:xfrm>
            <a:off x="4086225" y="3568303"/>
            <a:ext cx="4486275" cy="246221"/>
          </a:xfrm>
          <a:prstGeom prst="rect">
            <a:avLst/>
          </a:prstGeom>
          <a:noFill/>
          <a:ln/>
        </p:spPr>
        <p:txBody>
          <a:bodyPr wrap="square" lIns="0" tIns="0" rIns="0" bIns="0" rtlCol="0" anchor="t">
            <a:spAutoFit/>
          </a:bodyPr>
          <a:lstStyle/>
          <a:p>
            <a:pPr marL="0" indent="0" algn="l">
              <a:buNone/>
            </a:pPr>
            <a:r>
              <a:rPr lang="en-US" sz="1600" b="1" dirty="0">
                <a:solidFill>
                  <a:srgbClr val="0B6AE9"/>
                </a:solidFill>
                <a:latin typeface="Arial" panose="020B0604020202020204" pitchFamily="34" charset="0"/>
                <a:ea typeface="Cardo Bold" pitchFamily="34" charset="-122"/>
                <a:cs typeface="Arial" panose="020B0604020202020204" pitchFamily="34" charset="0"/>
              </a:rPr>
              <a:t>5 Days - 2 Days = 3 Days Float</a:t>
            </a:r>
            <a:endParaRPr lang="en-US" sz="1600" dirty="0">
              <a:latin typeface="Arial" panose="020B0604020202020204" pitchFamily="34" charset="0"/>
              <a:cs typeface="Arial" panose="020B0604020202020204" pitchFamily="34" charset="0"/>
            </a:endParaRPr>
          </a:p>
        </p:txBody>
      </p:sp>
      <p:sp>
        <p:nvSpPr>
          <p:cNvPr id="19" name="Text 16"/>
          <p:cNvSpPr/>
          <p:nvPr/>
        </p:nvSpPr>
        <p:spPr>
          <a:xfrm>
            <a:off x="7474148"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SECTION 02 / PAGE 06</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572000" cy="4286250"/>
          </a:xfrm>
          <a:prstGeom prst="rect">
            <a:avLst/>
          </a:prstGeom>
          <a:solidFill>
            <a:srgbClr val="121A5D"/>
          </a:solidFill>
          <a:ln/>
        </p:spPr>
      </p:sp>
      <p:sp>
        <p:nvSpPr>
          <p:cNvPr id="4" name="Text 1"/>
          <p:cNvSpPr/>
          <p:nvPr/>
        </p:nvSpPr>
        <p:spPr>
          <a:xfrm>
            <a:off x="571500" y="428625"/>
            <a:ext cx="3429000" cy="115416"/>
          </a:xfrm>
          <a:prstGeom prst="rect">
            <a:avLst/>
          </a:prstGeom>
          <a:noFill/>
          <a:ln/>
        </p:spPr>
        <p:txBody>
          <a:bodyPr wrap="square" lIns="0" tIns="0" rIns="0" bIns="0" rtlCol="0" anchor="t">
            <a:spAutoFit/>
          </a:bodyPr>
          <a:lstStyle/>
          <a:p>
            <a:pPr marL="0" indent="0" algn="l">
              <a:buNone/>
            </a:pPr>
            <a:r>
              <a:rPr lang="en-US" sz="750" kern="0" spc="2" dirty="0">
                <a:solidFill>
                  <a:srgbClr val="0B6AE9"/>
                </a:solidFill>
                <a:latin typeface="Arial" panose="020B0604020202020204" pitchFamily="34" charset="0"/>
                <a:ea typeface="Inter" pitchFamily="34" charset="-122"/>
                <a:cs typeface="Arial" panose="020B0604020202020204" pitchFamily="34" charset="0"/>
              </a:rPr>
              <a:t>GOVERNING PATH ★ CRITICAL</a:t>
            </a:r>
            <a:endParaRPr lang="en-US" sz="750" dirty="0">
              <a:latin typeface="Arial" panose="020B0604020202020204" pitchFamily="34" charset="0"/>
              <a:cs typeface="Arial" panose="020B0604020202020204" pitchFamily="34" charset="0"/>
            </a:endParaRPr>
          </a:p>
        </p:txBody>
      </p:sp>
      <p:sp>
        <p:nvSpPr>
          <p:cNvPr id="5" name="Text 2"/>
          <p:cNvSpPr/>
          <p:nvPr/>
        </p:nvSpPr>
        <p:spPr>
          <a:xfrm>
            <a:off x="571500" y="621506"/>
            <a:ext cx="2322752" cy="331757"/>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FFFFFF"/>
                </a:solidFill>
                <a:latin typeface="Arial" panose="020B0604020202020204" pitchFamily="34" charset="0"/>
                <a:ea typeface="Cardo Bold" pitchFamily="34" charset="-122"/>
                <a:cs typeface="Arial" panose="020B0604020202020204" pitchFamily="34" charset="0"/>
              </a:rPr>
              <a:t>Frontend Chain</a:t>
            </a:r>
            <a:endParaRPr lang="en-US" sz="2450" dirty="0">
              <a:latin typeface="Arial" panose="020B0604020202020204" pitchFamily="34" charset="0"/>
              <a:cs typeface="Arial" panose="020B0604020202020204" pitchFamily="34" charset="0"/>
            </a:endParaRPr>
          </a:p>
        </p:txBody>
      </p:sp>
      <p:sp>
        <p:nvSpPr>
          <p:cNvPr id="6" name="Text 3"/>
          <p:cNvSpPr/>
          <p:nvPr/>
        </p:nvSpPr>
        <p:spPr>
          <a:xfrm>
            <a:off x="571500" y="1269205"/>
            <a:ext cx="2431386" cy="403700"/>
          </a:xfrm>
          <a:prstGeom prst="rect">
            <a:avLst/>
          </a:prstGeom>
          <a:noFill/>
          <a:ln/>
        </p:spPr>
        <p:txBody>
          <a:bodyPr wrap="square" lIns="0" tIns="127508" rIns="0" bIns="127508" rtlCol="0" anchor="ctr">
            <a:spAutoFit/>
          </a:bodyPr>
          <a:lstStyle/>
          <a:p>
            <a:pPr marL="0" indent="0" algn="l">
              <a:buNone/>
            </a:pPr>
            <a:r>
              <a:rPr lang="en-US" sz="950" dirty="0">
                <a:solidFill>
                  <a:srgbClr val="FFFFFF"/>
                </a:solidFill>
                <a:latin typeface="Arial" panose="020B0604020202020204" pitchFamily="34" charset="0"/>
                <a:ea typeface="Inter Light" pitchFamily="34" charset="-122"/>
                <a:cs typeface="Arial" panose="020B0604020202020204" pitchFamily="34" charset="0"/>
              </a:rPr>
              <a:t>SF-7 UI Wireframes</a:t>
            </a:r>
            <a:endParaRPr lang="en-US" sz="950" dirty="0">
              <a:latin typeface="Arial" panose="020B0604020202020204" pitchFamily="34" charset="0"/>
              <a:cs typeface="Arial" panose="020B0604020202020204" pitchFamily="34" charset="0"/>
            </a:endParaRPr>
          </a:p>
        </p:txBody>
      </p:sp>
      <p:sp>
        <p:nvSpPr>
          <p:cNvPr id="7" name="Text 4"/>
          <p:cNvSpPr/>
          <p:nvPr/>
        </p:nvSpPr>
        <p:spPr>
          <a:xfrm>
            <a:off x="3622191" y="1269205"/>
            <a:ext cx="378309" cy="403700"/>
          </a:xfrm>
          <a:prstGeom prst="rect">
            <a:avLst/>
          </a:prstGeom>
          <a:noFill/>
          <a:ln/>
        </p:spPr>
        <p:txBody>
          <a:bodyPr wrap="none" lIns="0" tIns="127508" rIns="0" bIns="127508" rtlCol="0" anchor="ctr">
            <a:spAutoFit/>
          </a:bodyPr>
          <a:lstStyle/>
          <a:p>
            <a:pPr marL="0" indent="0" algn="r">
              <a:buNone/>
            </a:pPr>
            <a:r>
              <a:rPr lang="en-US" sz="950" dirty="0">
                <a:solidFill>
                  <a:srgbClr val="FFFFFF"/>
                </a:solidFill>
                <a:latin typeface="Arial" panose="020B0604020202020204" pitchFamily="34" charset="0"/>
                <a:ea typeface="Inter" pitchFamily="34" charset="-122"/>
                <a:cs typeface="Arial" panose="020B0604020202020204" pitchFamily="34" charset="0"/>
              </a:rPr>
              <a:t>7 Days</a:t>
            </a:r>
            <a:endParaRPr lang="en-US" sz="950" dirty="0">
              <a:latin typeface="Arial" panose="020B0604020202020204" pitchFamily="34" charset="0"/>
              <a:cs typeface="Arial" panose="020B0604020202020204" pitchFamily="34" charset="0"/>
            </a:endParaRPr>
          </a:p>
        </p:txBody>
      </p:sp>
      <p:sp>
        <p:nvSpPr>
          <p:cNvPr id="8" name="Text 5"/>
          <p:cNvSpPr/>
          <p:nvPr/>
        </p:nvSpPr>
        <p:spPr>
          <a:xfrm>
            <a:off x="571500" y="1644252"/>
            <a:ext cx="2431386" cy="403700"/>
          </a:xfrm>
          <a:prstGeom prst="rect">
            <a:avLst/>
          </a:prstGeom>
          <a:noFill/>
          <a:ln/>
        </p:spPr>
        <p:txBody>
          <a:bodyPr wrap="square" lIns="0" tIns="127508" rIns="0" bIns="127508" rtlCol="0" anchor="ctr">
            <a:spAutoFit/>
          </a:bodyPr>
          <a:lstStyle/>
          <a:p>
            <a:pPr marL="0" indent="0" algn="l">
              <a:buNone/>
            </a:pPr>
            <a:r>
              <a:rPr lang="en-US" sz="950" dirty="0">
                <a:solidFill>
                  <a:srgbClr val="FFFFFF"/>
                </a:solidFill>
                <a:latin typeface="Arial" panose="020B0604020202020204" pitchFamily="34" charset="0"/>
                <a:ea typeface="Inter Light" pitchFamily="34" charset="-122"/>
                <a:cs typeface="Arial" panose="020B0604020202020204" pitchFamily="34" charset="0"/>
              </a:rPr>
              <a:t>SF-10 UI/UX Design</a:t>
            </a:r>
            <a:endParaRPr lang="en-US" sz="950" dirty="0">
              <a:latin typeface="Arial" panose="020B0604020202020204" pitchFamily="34" charset="0"/>
              <a:cs typeface="Arial" panose="020B0604020202020204" pitchFamily="34" charset="0"/>
            </a:endParaRPr>
          </a:p>
        </p:txBody>
      </p:sp>
      <p:sp>
        <p:nvSpPr>
          <p:cNvPr id="9" name="Text 6"/>
          <p:cNvSpPr/>
          <p:nvPr/>
        </p:nvSpPr>
        <p:spPr>
          <a:xfrm>
            <a:off x="3554865" y="1644252"/>
            <a:ext cx="445635" cy="403700"/>
          </a:xfrm>
          <a:prstGeom prst="rect">
            <a:avLst/>
          </a:prstGeom>
          <a:noFill/>
          <a:ln/>
        </p:spPr>
        <p:txBody>
          <a:bodyPr wrap="none" lIns="0" tIns="127508" rIns="0" bIns="127508" rtlCol="0" anchor="ctr">
            <a:spAutoFit/>
          </a:bodyPr>
          <a:lstStyle/>
          <a:p>
            <a:pPr marL="0" indent="0" algn="r">
              <a:buNone/>
            </a:pPr>
            <a:r>
              <a:rPr lang="en-US" sz="950" dirty="0">
                <a:solidFill>
                  <a:srgbClr val="FFFFFF"/>
                </a:solidFill>
                <a:latin typeface="Arial" panose="020B0604020202020204" pitchFamily="34" charset="0"/>
                <a:ea typeface="Inter" pitchFamily="34" charset="-122"/>
                <a:cs typeface="Arial" panose="020B0604020202020204" pitchFamily="34" charset="0"/>
              </a:rPr>
              <a:t>24 Days</a:t>
            </a:r>
            <a:endParaRPr lang="en-US" sz="950" dirty="0">
              <a:latin typeface="Arial" panose="020B0604020202020204" pitchFamily="34" charset="0"/>
              <a:cs typeface="Arial" panose="020B0604020202020204" pitchFamily="34" charset="0"/>
            </a:endParaRPr>
          </a:p>
        </p:txBody>
      </p:sp>
      <p:sp>
        <p:nvSpPr>
          <p:cNvPr id="10" name="Text 7"/>
          <p:cNvSpPr/>
          <p:nvPr/>
        </p:nvSpPr>
        <p:spPr>
          <a:xfrm>
            <a:off x="571500" y="2021085"/>
            <a:ext cx="2431386" cy="403700"/>
          </a:xfrm>
          <a:prstGeom prst="rect">
            <a:avLst/>
          </a:prstGeom>
          <a:noFill/>
          <a:ln/>
        </p:spPr>
        <p:txBody>
          <a:bodyPr wrap="square" lIns="0" tIns="127508" rIns="0" bIns="127508" rtlCol="0" anchor="ctr">
            <a:spAutoFit/>
          </a:bodyPr>
          <a:lstStyle/>
          <a:p>
            <a:pPr marL="0" indent="0" algn="l">
              <a:buNone/>
            </a:pPr>
            <a:r>
              <a:rPr lang="en-US" sz="950" dirty="0">
                <a:solidFill>
                  <a:srgbClr val="FFFFFF"/>
                </a:solidFill>
                <a:latin typeface="Arial" panose="020B0604020202020204" pitchFamily="34" charset="0"/>
                <a:ea typeface="Inter Light" pitchFamily="34" charset="-122"/>
                <a:cs typeface="Arial" panose="020B0604020202020204" pitchFamily="34" charset="0"/>
              </a:rPr>
              <a:t>SF-11 Build Frontend</a:t>
            </a:r>
            <a:endParaRPr lang="en-US" sz="950" dirty="0">
              <a:latin typeface="Arial" panose="020B0604020202020204" pitchFamily="34" charset="0"/>
              <a:cs typeface="Arial" panose="020B0604020202020204" pitchFamily="34" charset="0"/>
            </a:endParaRPr>
          </a:p>
        </p:txBody>
      </p:sp>
      <p:sp>
        <p:nvSpPr>
          <p:cNvPr id="11" name="Text 8"/>
          <p:cNvSpPr/>
          <p:nvPr/>
        </p:nvSpPr>
        <p:spPr>
          <a:xfrm>
            <a:off x="3554865" y="2021085"/>
            <a:ext cx="445635" cy="403700"/>
          </a:xfrm>
          <a:prstGeom prst="rect">
            <a:avLst/>
          </a:prstGeom>
          <a:noFill/>
          <a:ln/>
        </p:spPr>
        <p:txBody>
          <a:bodyPr wrap="none" lIns="0" tIns="127508" rIns="0" bIns="127508" rtlCol="0" anchor="ctr">
            <a:spAutoFit/>
          </a:bodyPr>
          <a:lstStyle/>
          <a:p>
            <a:pPr marL="0" indent="0" algn="r">
              <a:buNone/>
            </a:pPr>
            <a:r>
              <a:rPr lang="en-US" sz="950" dirty="0">
                <a:solidFill>
                  <a:srgbClr val="FFFFFF"/>
                </a:solidFill>
                <a:latin typeface="Arial" panose="020B0604020202020204" pitchFamily="34" charset="0"/>
                <a:ea typeface="Inter" pitchFamily="34" charset="-122"/>
                <a:cs typeface="Arial" panose="020B0604020202020204" pitchFamily="34" charset="0"/>
              </a:rPr>
              <a:t>18 Days</a:t>
            </a:r>
            <a:endParaRPr lang="en-US" sz="950" dirty="0">
              <a:latin typeface="Arial" panose="020B0604020202020204" pitchFamily="34" charset="0"/>
              <a:cs typeface="Arial" panose="020B0604020202020204" pitchFamily="34" charset="0"/>
            </a:endParaRPr>
          </a:p>
        </p:txBody>
      </p:sp>
      <p:sp>
        <p:nvSpPr>
          <p:cNvPr id="12" name="Text 9"/>
          <p:cNvSpPr/>
          <p:nvPr/>
        </p:nvSpPr>
        <p:spPr>
          <a:xfrm>
            <a:off x="571500" y="3029285"/>
            <a:ext cx="847989" cy="161583"/>
          </a:xfrm>
          <a:prstGeom prst="rect">
            <a:avLst/>
          </a:prstGeom>
          <a:noFill/>
          <a:ln/>
        </p:spPr>
        <p:txBody>
          <a:bodyPr wrap="none" lIns="0" tIns="0" rIns="0" bIns="0" rtlCol="0" anchor="t">
            <a:spAutoFit/>
          </a:bodyPr>
          <a:lstStyle/>
          <a:p>
            <a:pPr marL="0" indent="0" algn="l">
              <a:buNone/>
            </a:pPr>
            <a:r>
              <a:rPr lang="en-US" sz="1050" dirty="0">
                <a:solidFill>
                  <a:srgbClr val="FFFFFF"/>
                </a:solidFill>
                <a:latin typeface="Arial" panose="020B0604020202020204" pitchFamily="34" charset="0"/>
                <a:ea typeface="Inter Light" pitchFamily="34" charset="-122"/>
                <a:cs typeface="Arial" panose="020B0604020202020204" pitchFamily="34" charset="0"/>
              </a:rPr>
              <a:t>Total Duration</a:t>
            </a:r>
            <a:endParaRPr lang="en-US" sz="1050" dirty="0">
              <a:latin typeface="Arial" panose="020B0604020202020204" pitchFamily="34" charset="0"/>
              <a:cs typeface="Arial" panose="020B0604020202020204" pitchFamily="34" charset="0"/>
            </a:endParaRPr>
          </a:p>
        </p:txBody>
      </p:sp>
      <p:sp>
        <p:nvSpPr>
          <p:cNvPr id="13" name="Text 10"/>
          <p:cNvSpPr/>
          <p:nvPr/>
        </p:nvSpPr>
        <p:spPr>
          <a:xfrm>
            <a:off x="2564606" y="2772110"/>
            <a:ext cx="1435894" cy="438582"/>
          </a:xfrm>
          <a:prstGeom prst="rect">
            <a:avLst/>
          </a:prstGeom>
          <a:noFill/>
          <a:ln/>
        </p:spPr>
        <p:txBody>
          <a:bodyPr wrap="square" lIns="0" tIns="0" rIns="0" bIns="0" rtlCol="0" anchor="t">
            <a:spAutoFit/>
          </a:bodyPr>
          <a:lstStyle/>
          <a:p>
            <a:pPr marL="0" indent="0" algn="l">
              <a:buNone/>
            </a:pPr>
            <a:r>
              <a:rPr lang="en-US" sz="2850" b="1" dirty="0">
                <a:solidFill>
                  <a:srgbClr val="FFFFFF"/>
                </a:solidFill>
                <a:latin typeface="Arial" panose="020B0604020202020204" pitchFamily="34" charset="0"/>
                <a:ea typeface="Cardo Bold" pitchFamily="34" charset="-122"/>
                <a:cs typeface="Arial" panose="020B0604020202020204" pitchFamily="34" charset="0"/>
              </a:rPr>
              <a:t>49 Days</a:t>
            </a:r>
            <a:endParaRPr lang="en-US" sz="2850" dirty="0">
              <a:latin typeface="Arial" panose="020B0604020202020204" pitchFamily="34" charset="0"/>
              <a:cs typeface="Arial" panose="020B0604020202020204" pitchFamily="34" charset="0"/>
            </a:endParaRPr>
          </a:p>
        </p:txBody>
      </p:sp>
      <p:sp>
        <p:nvSpPr>
          <p:cNvPr id="14" name="Shape 11"/>
          <p:cNvSpPr/>
          <p:nvPr/>
        </p:nvSpPr>
        <p:spPr>
          <a:xfrm>
            <a:off x="4572000" y="0"/>
            <a:ext cx="4572000" cy="4286250"/>
          </a:xfrm>
          <a:prstGeom prst="rect">
            <a:avLst/>
          </a:prstGeom>
          <a:solidFill>
            <a:srgbClr val="FFFFFF"/>
          </a:solidFill>
          <a:ln/>
        </p:spPr>
      </p:sp>
      <p:sp>
        <p:nvSpPr>
          <p:cNvPr id="15" name="Text 12"/>
          <p:cNvSpPr/>
          <p:nvPr/>
        </p:nvSpPr>
        <p:spPr>
          <a:xfrm>
            <a:off x="5143500" y="428625"/>
            <a:ext cx="3429000" cy="115416"/>
          </a:xfrm>
          <a:prstGeom prst="rect">
            <a:avLst/>
          </a:prstGeom>
          <a:noFill/>
          <a:ln/>
        </p:spPr>
        <p:txBody>
          <a:bodyPr wrap="square" lIns="0" tIns="0" rIns="0" bIns="0" rtlCol="0" anchor="t">
            <a:spAutoFit/>
          </a:bodyPr>
          <a:lstStyle/>
          <a:p>
            <a:pPr marL="0" indent="0" algn="l">
              <a:buNone/>
            </a:pPr>
            <a:r>
              <a:rPr lang="en-US" sz="750" kern="0" spc="2" dirty="0">
                <a:solidFill>
                  <a:srgbClr val="0B6AE9"/>
                </a:solidFill>
                <a:latin typeface="Arial" panose="020B0604020202020204" pitchFamily="34" charset="0"/>
                <a:ea typeface="Inter" pitchFamily="34" charset="-122"/>
                <a:cs typeface="Arial" panose="020B0604020202020204" pitchFamily="34" charset="0"/>
              </a:rPr>
              <a:t>PARALLEL PATH</a:t>
            </a:r>
            <a:endParaRPr lang="en-US" sz="750" dirty="0">
              <a:latin typeface="Arial" panose="020B0604020202020204" pitchFamily="34" charset="0"/>
              <a:cs typeface="Arial" panose="020B0604020202020204" pitchFamily="34" charset="0"/>
            </a:endParaRPr>
          </a:p>
        </p:txBody>
      </p:sp>
      <p:sp>
        <p:nvSpPr>
          <p:cNvPr id="16" name="Text 13"/>
          <p:cNvSpPr/>
          <p:nvPr/>
        </p:nvSpPr>
        <p:spPr>
          <a:xfrm>
            <a:off x="5143500" y="621506"/>
            <a:ext cx="2271456" cy="331757"/>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121A5D"/>
                </a:solidFill>
                <a:latin typeface="Arial" panose="020B0604020202020204" pitchFamily="34" charset="0"/>
                <a:ea typeface="Cardo Bold" pitchFamily="34" charset="-122"/>
                <a:cs typeface="Arial" panose="020B0604020202020204" pitchFamily="34" charset="0"/>
              </a:rPr>
              <a:t>Backend Chain</a:t>
            </a:r>
            <a:endParaRPr lang="en-US" sz="2450" dirty="0">
              <a:latin typeface="Arial" panose="020B0604020202020204" pitchFamily="34" charset="0"/>
              <a:cs typeface="Arial" panose="020B0604020202020204" pitchFamily="34" charset="0"/>
            </a:endParaRPr>
          </a:p>
        </p:txBody>
      </p:sp>
      <p:sp>
        <p:nvSpPr>
          <p:cNvPr id="17" name="Text 14"/>
          <p:cNvSpPr/>
          <p:nvPr/>
        </p:nvSpPr>
        <p:spPr>
          <a:xfrm>
            <a:off x="5143500" y="1269205"/>
            <a:ext cx="2570913" cy="403700"/>
          </a:xfrm>
          <a:prstGeom prst="rect">
            <a:avLst/>
          </a:prstGeom>
          <a:noFill/>
          <a:ln/>
        </p:spPr>
        <p:txBody>
          <a:bodyPr wrap="square" lIns="0" tIns="127508" rIns="0" bIns="127508" rtlCol="0" anchor="ctr">
            <a:spAutoFit/>
          </a:bodyPr>
          <a:lstStyle/>
          <a:p>
            <a:pPr marL="0" indent="0" algn="l">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SF-8 Database Schema</a:t>
            </a:r>
            <a:endParaRPr lang="en-US" sz="950" dirty="0">
              <a:latin typeface="Arial" panose="020B0604020202020204" pitchFamily="34" charset="0"/>
              <a:cs typeface="Arial" panose="020B0604020202020204" pitchFamily="34" charset="0"/>
            </a:endParaRPr>
          </a:p>
        </p:txBody>
      </p:sp>
      <p:sp>
        <p:nvSpPr>
          <p:cNvPr id="18" name="Text 15"/>
          <p:cNvSpPr/>
          <p:nvPr/>
        </p:nvSpPr>
        <p:spPr>
          <a:xfrm>
            <a:off x="8194191" y="1269205"/>
            <a:ext cx="378309" cy="403700"/>
          </a:xfrm>
          <a:prstGeom prst="rect">
            <a:avLst/>
          </a:prstGeom>
          <a:noFill/>
          <a:ln/>
        </p:spPr>
        <p:txBody>
          <a:bodyPr wrap="none" lIns="0" tIns="127508" rIns="0" bIns="127508" rtlCol="0" anchor="ctr">
            <a:spAutoFit/>
          </a:bodyPr>
          <a:lstStyle/>
          <a:p>
            <a:pPr marL="0" indent="0" algn="r">
              <a:buNone/>
            </a:pPr>
            <a:r>
              <a:rPr lang="en-US" sz="950" dirty="0">
                <a:solidFill>
                  <a:srgbClr val="121A5D"/>
                </a:solidFill>
                <a:latin typeface="Arial" panose="020B0604020202020204" pitchFamily="34" charset="0"/>
                <a:ea typeface="Inter" pitchFamily="34" charset="-122"/>
                <a:cs typeface="Arial" panose="020B0604020202020204" pitchFamily="34" charset="0"/>
              </a:rPr>
              <a:t>7 Days</a:t>
            </a:r>
            <a:endParaRPr lang="en-US" sz="950" dirty="0">
              <a:latin typeface="Arial" panose="020B0604020202020204" pitchFamily="34" charset="0"/>
              <a:cs typeface="Arial" panose="020B0604020202020204" pitchFamily="34" charset="0"/>
            </a:endParaRPr>
          </a:p>
        </p:txBody>
      </p:sp>
      <p:sp>
        <p:nvSpPr>
          <p:cNvPr id="19" name="Text 16"/>
          <p:cNvSpPr/>
          <p:nvPr/>
        </p:nvSpPr>
        <p:spPr>
          <a:xfrm>
            <a:off x="5143500" y="1644252"/>
            <a:ext cx="2570913" cy="403700"/>
          </a:xfrm>
          <a:prstGeom prst="rect">
            <a:avLst/>
          </a:prstGeom>
          <a:noFill/>
          <a:ln/>
        </p:spPr>
        <p:txBody>
          <a:bodyPr wrap="square" lIns="0" tIns="127508" rIns="0" bIns="127508" rtlCol="0" anchor="ctr">
            <a:spAutoFit/>
          </a:bodyPr>
          <a:lstStyle/>
          <a:p>
            <a:pPr marL="0" indent="0" algn="l">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SF-12 Backend/API</a:t>
            </a:r>
            <a:endParaRPr lang="en-US" sz="950" dirty="0">
              <a:latin typeface="Arial" panose="020B0604020202020204" pitchFamily="34" charset="0"/>
              <a:cs typeface="Arial" panose="020B0604020202020204" pitchFamily="34" charset="0"/>
            </a:endParaRPr>
          </a:p>
        </p:txBody>
      </p:sp>
      <p:sp>
        <p:nvSpPr>
          <p:cNvPr id="20" name="Text 17"/>
          <p:cNvSpPr/>
          <p:nvPr/>
        </p:nvSpPr>
        <p:spPr>
          <a:xfrm>
            <a:off x="8126865" y="1644252"/>
            <a:ext cx="445635" cy="403700"/>
          </a:xfrm>
          <a:prstGeom prst="rect">
            <a:avLst/>
          </a:prstGeom>
          <a:noFill/>
          <a:ln/>
        </p:spPr>
        <p:txBody>
          <a:bodyPr wrap="none" lIns="0" tIns="127508" rIns="0" bIns="127508" rtlCol="0" anchor="ctr">
            <a:spAutoFit/>
          </a:bodyPr>
          <a:lstStyle/>
          <a:p>
            <a:pPr marL="0" indent="0" algn="r">
              <a:buNone/>
            </a:pPr>
            <a:r>
              <a:rPr lang="en-US" sz="950" dirty="0">
                <a:solidFill>
                  <a:srgbClr val="121A5D"/>
                </a:solidFill>
                <a:latin typeface="Arial" panose="020B0604020202020204" pitchFamily="34" charset="0"/>
                <a:ea typeface="Inter" pitchFamily="34" charset="-122"/>
                <a:cs typeface="Arial" panose="020B0604020202020204" pitchFamily="34" charset="0"/>
              </a:rPr>
              <a:t>14 Days</a:t>
            </a:r>
            <a:endParaRPr lang="en-US" sz="950" dirty="0">
              <a:latin typeface="Arial" panose="020B0604020202020204" pitchFamily="34" charset="0"/>
              <a:cs typeface="Arial" panose="020B0604020202020204" pitchFamily="34" charset="0"/>
            </a:endParaRPr>
          </a:p>
        </p:txBody>
      </p:sp>
      <p:sp>
        <p:nvSpPr>
          <p:cNvPr id="21" name="Text 18"/>
          <p:cNvSpPr/>
          <p:nvPr/>
        </p:nvSpPr>
        <p:spPr>
          <a:xfrm>
            <a:off x="5143500" y="2021085"/>
            <a:ext cx="2570913" cy="403700"/>
          </a:xfrm>
          <a:prstGeom prst="rect">
            <a:avLst/>
          </a:prstGeom>
          <a:noFill/>
          <a:ln/>
        </p:spPr>
        <p:txBody>
          <a:bodyPr wrap="square" lIns="0" tIns="127508" rIns="0" bIns="127508" rtlCol="0" anchor="ctr">
            <a:spAutoFit/>
          </a:bodyPr>
          <a:lstStyle/>
          <a:p>
            <a:pPr marL="0" indent="0" algn="l">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SF-15 Deploy Backend</a:t>
            </a:r>
            <a:endParaRPr lang="en-US" sz="950" dirty="0">
              <a:latin typeface="Arial" panose="020B0604020202020204" pitchFamily="34" charset="0"/>
              <a:cs typeface="Arial" panose="020B0604020202020204" pitchFamily="34" charset="0"/>
            </a:endParaRPr>
          </a:p>
        </p:txBody>
      </p:sp>
      <p:sp>
        <p:nvSpPr>
          <p:cNvPr id="22" name="Text 19"/>
          <p:cNvSpPr/>
          <p:nvPr/>
        </p:nvSpPr>
        <p:spPr>
          <a:xfrm>
            <a:off x="8194191" y="2021085"/>
            <a:ext cx="378309" cy="403700"/>
          </a:xfrm>
          <a:prstGeom prst="rect">
            <a:avLst/>
          </a:prstGeom>
          <a:noFill/>
          <a:ln/>
        </p:spPr>
        <p:txBody>
          <a:bodyPr wrap="none" lIns="0" tIns="127508" rIns="0" bIns="127508" rtlCol="0" anchor="ctr">
            <a:spAutoFit/>
          </a:bodyPr>
          <a:lstStyle/>
          <a:p>
            <a:pPr marL="0" indent="0" algn="r">
              <a:buNone/>
            </a:pPr>
            <a:r>
              <a:rPr lang="en-US" sz="950" dirty="0">
                <a:solidFill>
                  <a:srgbClr val="121A5D"/>
                </a:solidFill>
                <a:latin typeface="Arial" panose="020B0604020202020204" pitchFamily="34" charset="0"/>
                <a:ea typeface="Inter" pitchFamily="34" charset="-122"/>
                <a:cs typeface="Arial" panose="020B0604020202020204" pitchFamily="34" charset="0"/>
              </a:rPr>
              <a:t>5 Days</a:t>
            </a:r>
            <a:endParaRPr lang="en-US" sz="950" dirty="0">
              <a:latin typeface="Arial" panose="020B0604020202020204" pitchFamily="34" charset="0"/>
              <a:cs typeface="Arial" panose="020B0604020202020204" pitchFamily="34" charset="0"/>
            </a:endParaRPr>
          </a:p>
        </p:txBody>
      </p:sp>
      <p:sp>
        <p:nvSpPr>
          <p:cNvPr id="23" name="Text 20"/>
          <p:cNvSpPr/>
          <p:nvPr/>
        </p:nvSpPr>
        <p:spPr>
          <a:xfrm>
            <a:off x="5143500" y="3029285"/>
            <a:ext cx="847989" cy="161583"/>
          </a:xfrm>
          <a:prstGeom prst="rect">
            <a:avLst/>
          </a:prstGeom>
          <a:noFill/>
          <a:ln/>
        </p:spPr>
        <p:txBody>
          <a:bodyPr wrap="none" lIns="0" tIns="0" rIns="0" bIns="0" rtlCol="0" anchor="t">
            <a:spAutoFit/>
          </a:bodyPr>
          <a:lstStyle/>
          <a:p>
            <a:pPr marL="0" indent="0" algn="l">
              <a:buNone/>
            </a:pPr>
            <a:r>
              <a:rPr lang="en-US" sz="1050" dirty="0">
                <a:solidFill>
                  <a:srgbClr val="121A5D"/>
                </a:solidFill>
                <a:latin typeface="Arial" panose="020B0604020202020204" pitchFamily="34" charset="0"/>
                <a:ea typeface="Inter Light" pitchFamily="34" charset="-122"/>
                <a:cs typeface="Arial" panose="020B0604020202020204" pitchFamily="34" charset="0"/>
              </a:rPr>
              <a:t>Total Duration</a:t>
            </a:r>
            <a:endParaRPr lang="en-US" sz="1050" dirty="0">
              <a:latin typeface="Arial" panose="020B0604020202020204" pitchFamily="34" charset="0"/>
              <a:cs typeface="Arial" panose="020B0604020202020204" pitchFamily="34" charset="0"/>
            </a:endParaRPr>
          </a:p>
        </p:txBody>
      </p:sp>
      <p:sp>
        <p:nvSpPr>
          <p:cNvPr id="24" name="Text 21"/>
          <p:cNvSpPr/>
          <p:nvPr/>
        </p:nvSpPr>
        <p:spPr>
          <a:xfrm>
            <a:off x="7136606" y="2772110"/>
            <a:ext cx="1435894" cy="438582"/>
          </a:xfrm>
          <a:prstGeom prst="rect">
            <a:avLst/>
          </a:prstGeom>
          <a:noFill/>
          <a:ln/>
        </p:spPr>
        <p:txBody>
          <a:bodyPr wrap="square" lIns="0" tIns="0" rIns="0" bIns="0" rtlCol="0" anchor="t">
            <a:spAutoFit/>
          </a:bodyPr>
          <a:lstStyle/>
          <a:p>
            <a:pPr marL="0" indent="0" algn="l">
              <a:buNone/>
            </a:pPr>
            <a:r>
              <a:rPr lang="en-US" sz="2850" b="1" dirty="0">
                <a:solidFill>
                  <a:srgbClr val="0B6AE9"/>
                </a:solidFill>
                <a:latin typeface="Arial" panose="020B0604020202020204" pitchFamily="34" charset="0"/>
                <a:ea typeface="Cardo Bold" pitchFamily="34" charset="-122"/>
                <a:cs typeface="Arial" panose="020B0604020202020204" pitchFamily="34" charset="0"/>
              </a:rPr>
              <a:t>26 Days</a:t>
            </a:r>
            <a:endParaRPr lang="en-US" sz="2850" dirty="0">
              <a:latin typeface="Arial" panose="020B0604020202020204" pitchFamily="34" charset="0"/>
              <a:cs typeface="Arial" panose="020B0604020202020204" pitchFamily="34" charset="0"/>
            </a:endParaRPr>
          </a:p>
        </p:txBody>
      </p:sp>
      <p:sp>
        <p:nvSpPr>
          <p:cNvPr id="25" name="Shape 22"/>
          <p:cNvSpPr/>
          <p:nvPr/>
        </p:nvSpPr>
        <p:spPr>
          <a:xfrm>
            <a:off x="0" y="4286250"/>
            <a:ext cx="9144000" cy="857250"/>
          </a:xfrm>
          <a:prstGeom prst="rect">
            <a:avLst/>
          </a:prstGeom>
          <a:solidFill>
            <a:srgbClr val="F8F9FA"/>
          </a:solidFill>
          <a:ln/>
        </p:spPr>
      </p:sp>
      <p:sp>
        <p:nvSpPr>
          <p:cNvPr id="26" name="Shape 23"/>
          <p:cNvSpPr/>
          <p:nvPr/>
        </p:nvSpPr>
        <p:spPr>
          <a:xfrm>
            <a:off x="0" y="4286250"/>
            <a:ext cx="9144000" cy="7144"/>
          </a:xfrm>
          <a:prstGeom prst="rect">
            <a:avLst/>
          </a:prstGeom>
          <a:solidFill>
            <a:srgbClr val="E2E8F0"/>
          </a:solidFill>
          <a:ln/>
        </p:spPr>
      </p:sp>
      <p:sp>
        <p:nvSpPr>
          <p:cNvPr id="27" name="Text 24"/>
          <p:cNvSpPr/>
          <p:nvPr/>
        </p:nvSpPr>
        <p:spPr>
          <a:xfrm>
            <a:off x="571500" y="4500563"/>
            <a:ext cx="8001000" cy="123111"/>
          </a:xfrm>
          <a:prstGeom prst="rect">
            <a:avLst/>
          </a:prstGeom>
          <a:noFill/>
          <a:ln/>
        </p:spPr>
        <p:txBody>
          <a:bodyPr wrap="square" lIns="0" tIns="0" rIns="0" bIns="0" rtlCol="0" anchor="t">
            <a:spAutoFit/>
          </a:bodyPr>
          <a:lstStyle/>
          <a:p>
            <a:pPr marL="0" indent="0" algn="l">
              <a:buNone/>
            </a:pPr>
            <a:r>
              <a:rPr lang="en-US" sz="800" b="1" dirty="0">
                <a:solidFill>
                  <a:srgbClr val="0B6AE9"/>
                </a:solidFill>
                <a:latin typeface="Arial" panose="020B0604020202020204" pitchFamily="34" charset="0"/>
                <a:ea typeface="Inter" pitchFamily="34" charset="-122"/>
                <a:cs typeface="Arial" panose="020B0604020202020204" pitchFamily="34" charset="0"/>
              </a:rPr>
              <a:t>STRATEGIC IMPLICATION</a:t>
            </a:r>
            <a:endParaRPr lang="en-US" sz="800" dirty="0">
              <a:latin typeface="Arial" panose="020B0604020202020204" pitchFamily="34" charset="0"/>
              <a:cs typeface="Arial" panose="020B0604020202020204" pitchFamily="34" charset="0"/>
            </a:endParaRPr>
          </a:p>
        </p:txBody>
      </p:sp>
      <p:sp>
        <p:nvSpPr>
          <p:cNvPr id="28" name="Text 25"/>
          <p:cNvSpPr/>
          <p:nvPr/>
        </p:nvSpPr>
        <p:spPr>
          <a:xfrm>
            <a:off x="571500" y="4695230"/>
            <a:ext cx="8001000" cy="380425"/>
          </a:xfrm>
          <a:prstGeom prst="rect">
            <a:avLst/>
          </a:prstGeom>
          <a:noFill/>
          <a:ln/>
        </p:spPr>
        <p:txBody>
          <a:bodyPr wrap="square" lIns="0" tIns="0" rIns="0" bIns="0" rtlCol="0" anchor="t">
            <a:spAutoFit/>
          </a:bodyPr>
          <a:lstStyle/>
          <a:p>
            <a:pPr marL="0" indent="0" algn="l">
              <a:lnSpc>
                <a:spcPct val="112000"/>
              </a:lnSpc>
              <a:buNone/>
            </a:pPr>
            <a:r>
              <a:rPr lang="en-US" sz="1150" dirty="0">
                <a:solidFill>
                  <a:srgbClr val="121A5D"/>
                </a:solidFill>
                <a:latin typeface="Arial" panose="020B0604020202020204" pitchFamily="34" charset="0"/>
                <a:ea typeface="Inter Light" pitchFamily="34" charset="-122"/>
                <a:cs typeface="Arial" panose="020B0604020202020204" pitchFamily="34" charset="0"/>
              </a:rPr>
              <a:t>The Frontend Chain governs the launch date. Resources must be prioritized here to protect the timeline, as the Backend Chain currently maintains </a:t>
            </a:r>
            <a:r>
              <a:rPr lang="en-US" sz="1150" dirty="0">
                <a:solidFill>
                  <a:srgbClr val="121A5D"/>
                </a:solidFill>
                <a:latin typeface="Arial" panose="020B0604020202020204" pitchFamily="34" charset="0"/>
                <a:ea typeface="Inter" pitchFamily="34" charset="-122"/>
                <a:cs typeface="Arial" panose="020B0604020202020204" pitchFamily="34" charset="0"/>
              </a:rPr>
              <a:t>23 days of float</a:t>
            </a:r>
            <a:r>
              <a:rPr lang="en-US" sz="1150" dirty="0">
                <a:solidFill>
                  <a:srgbClr val="121A5D"/>
                </a:solidFill>
                <a:latin typeface="Arial" panose="020B0604020202020204" pitchFamily="34" charset="0"/>
                <a:ea typeface="Inter Light" pitchFamily="34" charset="-122"/>
                <a:cs typeface="Arial" panose="020B0604020202020204" pitchFamily="34" charset="0"/>
              </a:rPr>
              <a:t>.</a:t>
            </a:r>
            <a:endParaRPr lang="en-US" sz="1150" dirty="0">
              <a:latin typeface="Arial" panose="020B0604020202020204" pitchFamily="34" charset="0"/>
              <a:cs typeface="Arial" panose="020B0604020202020204" pitchFamily="34" charset="0"/>
            </a:endParaRPr>
          </a:p>
        </p:txBody>
      </p:sp>
      <p:sp>
        <p:nvSpPr>
          <p:cNvPr id="29" name="Text 26"/>
          <p:cNvSpPr/>
          <p:nvPr/>
        </p:nvSpPr>
        <p:spPr>
          <a:xfrm>
            <a:off x="7888486" y="4895255"/>
            <a:ext cx="875240" cy="92333"/>
          </a:xfrm>
          <a:prstGeom prst="rect">
            <a:avLst/>
          </a:prstGeom>
          <a:noFill/>
          <a:ln/>
        </p:spPr>
        <p:txBody>
          <a:bodyPr wrap="none" lIns="0" tIns="0" rIns="0" bIns="0" rtlCol="0" anchor="t">
            <a:spAutoFit/>
          </a:bodyPr>
          <a:lstStyle/>
          <a:p>
            <a:pPr marL="0" indent="0" algn="l">
              <a:buNone/>
            </a:pPr>
            <a:r>
              <a:rPr lang="en-US" sz="600" dirty="0">
                <a:solidFill>
                  <a:srgbClr val="E2E8F0"/>
                </a:solidFill>
                <a:latin typeface="Arial" panose="020B0604020202020204" pitchFamily="34" charset="0"/>
                <a:ea typeface="Inter" pitchFamily="34" charset="-122"/>
                <a:cs typeface="Arial" panose="020B0604020202020204" pitchFamily="34" charset="0"/>
              </a:rPr>
              <a:t>CASE STUDY / PAGE 07</a:t>
            </a:r>
            <a:endParaRPr lang="en-US" sz="6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4209486" cy="446917"/>
          </a:xfrm>
          <a:prstGeom prst="rect">
            <a:avLst/>
          </a:prstGeom>
          <a:noFill/>
          <a:ln/>
        </p:spPr>
        <p:txBody>
          <a:bodyPr wrap="none" lIns="0" tIns="0" rIns="0" bIns="0" rtlCol="0" anchor="t">
            <a:spAutoFit/>
          </a:bodyPr>
          <a:lstStyle/>
          <a:p>
            <a:pPr marL="0" indent="0" algn="l">
              <a:lnSpc>
                <a:spcPct val="88000"/>
              </a:lnSpc>
              <a:buNone/>
            </a:pPr>
            <a:r>
              <a:rPr lang="en-US" sz="3300" b="1" dirty="0">
                <a:solidFill>
                  <a:srgbClr val="121A5D"/>
                </a:solidFill>
                <a:latin typeface="Arial" panose="020B0604020202020204" pitchFamily="34" charset="0"/>
                <a:ea typeface="Cardo Bold" pitchFamily="34" charset="-122"/>
                <a:cs typeface="Arial" panose="020B0604020202020204" pitchFamily="34" charset="0"/>
              </a:rPr>
              <a:t>Bottleneck Detection</a:t>
            </a:r>
            <a:endParaRPr lang="en-US" sz="3300" dirty="0">
              <a:latin typeface="Arial" panose="020B0604020202020204" pitchFamily="34" charset="0"/>
              <a:cs typeface="Arial" panose="020B0604020202020204" pitchFamily="34" charset="0"/>
            </a:endParaRPr>
          </a:p>
        </p:txBody>
      </p:sp>
      <p:sp>
        <p:nvSpPr>
          <p:cNvPr id="4" name="Text 1"/>
          <p:cNvSpPr/>
          <p:nvPr/>
        </p:nvSpPr>
        <p:spPr>
          <a:xfrm>
            <a:off x="571500" y="1002971"/>
            <a:ext cx="8572500" cy="192360"/>
          </a:xfrm>
          <a:prstGeom prst="rect">
            <a:avLst/>
          </a:prstGeom>
          <a:noFill/>
          <a:ln/>
        </p:spPr>
        <p:txBody>
          <a:bodyPr wrap="square" lIns="0" tIns="0" rIns="0" bIns="0" rtlCol="0" anchor="t">
            <a:spAutoFit/>
          </a:bodyPr>
          <a:lstStyle/>
          <a:p>
            <a:pPr marL="0" indent="0" algn="l">
              <a:buNone/>
            </a:pPr>
            <a:r>
              <a:rPr lang="en-US" sz="1250" dirty="0">
                <a:solidFill>
                  <a:srgbClr val="0B6AE9"/>
                </a:solidFill>
                <a:latin typeface="Arial" panose="020B0604020202020204" pitchFamily="34" charset="0"/>
                <a:ea typeface="Inter Light" pitchFamily="34" charset="-122"/>
                <a:cs typeface="Arial" panose="020B0604020202020204" pitchFamily="34" charset="0"/>
              </a:rPr>
              <a:t>Identifying constraints in the delivery pipeline</a:t>
            </a:r>
            <a:endParaRPr lang="en-US" sz="1250" dirty="0">
              <a:latin typeface="Arial" panose="020B0604020202020204" pitchFamily="34" charset="0"/>
              <a:cs typeface="Arial" panose="020B0604020202020204" pitchFamily="34" charset="0"/>
            </a:endParaRPr>
          </a:p>
        </p:txBody>
      </p:sp>
      <p:sp>
        <p:nvSpPr>
          <p:cNvPr id="5" name="Text 2"/>
          <p:cNvSpPr/>
          <p:nvPr/>
        </p:nvSpPr>
        <p:spPr>
          <a:xfrm>
            <a:off x="714375" y="1717346"/>
            <a:ext cx="1554463" cy="107722"/>
          </a:xfrm>
          <a:prstGeom prst="rect">
            <a:avLst/>
          </a:prstGeom>
          <a:noFill/>
          <a:ln/>
        </p:spPr>
        <p:txBody>
          <a:bodyPr wrap="square" lIns="0" tIns="0" rIns="0" bIns="0" rtlCol="0" anchor="t">
            <a:spAutoFit/>
          </a:bodyPr>
          <a:lstStyle/>
          <a:p>
            <a:pPr marL="0" indent="0" algn="ctr">
              <a:buNone/>
            </a:pPr>
            <a:r>
              <a:rPr lang="en-US" sz="700" kern="0" spc="2" dirty="0">
                <a:solidFill>
                  <a:srgbClr val="121A5D">
                    <a:alpha val="70000"/>
                  </a:srgbClr>
                </a:solidFill>
                <a:latin typeface="Arial" panose="020B0604020202020204" pitchFamily="34" charset="0"/>
                <a:ea typeface="Inter SemiBold" pitchFamily="34" charset="-122"/>
                <a:cs typeface="Arial" panose="020B0604020202020204" pitchFamily="34" charset="0"/>
              </a:rPr>
              <a:t>TO DO</a:t>
            </a:r>
            <a:endParaRPr lang="en-US" sz="700" dirty="0">
              <a:latin typeface="Arial" panose="020B0604020202020204" pitchFamily="34" charset="0"/>
              <a:cs typeface="Arial" panose="020B0604020202020204" pitchFamily="34" charset="0"/>
            </a:endParaRPr>
          </a:p>
        </p:txBody>
      </p:sp>
      <p:sp>
        <p:nvSpPr>
          <p:cNvPr id="6" name="Text 3"/>
          <p:cNvSpPr/>
          <p:nvPr/>
        </p:nvSpPr>
        <p:spPr>
          <a:xfrm>
            <a:off x="1336115" y="1981665"/>
            <a:ext cx="310983" cy="535531"/>
          </a:xfrm>
          <a:prstGeom prst="rect">
            <a:avLst/>
          </a:prstGeom>
          <a:noFill/>
          <a:ln/>
        </p:spPr>
        <p:txBody>
          <a:bodyPr wrap="none" lIns="0" tIns="0" rIns="0" bIns="0" rtlCol="0" anchor="t">
            <a:spAutoFit/>
          </a:bodyPr>
          <a:lstStyle/>
          <a:p>
            <a:pPr marL="0" indent="0" algn="ctr">
              <a:lnSpc>
                <a:spcPct val="80000"/>
              </a:lnSpc>
              <a:buNone/>
            </a:pPr>
            <a:r>
              <a:rPr lang="en-US" sz="4350" b="1" dirty="0">
                <a:solidFill>
                  <a:srgbClr val="121A5D"/>
                </a:solidFill>
                <a:latin typeface="Arial" panose="020B0604020202020204" pitchFamily="34" charset="0"/>
                <a:ea typeface="Cardo Bold" pitchFamily="34" charset="-122"/>
                <a:cs typeface="Arial" panose="020B0604020202020204" pitchFamily="34" charset="0"/>
              </a:rPr>
              <a:t>2</a:t>
            </a:r>
            <a:endParaRPr lang="en-US" sz="4350" dirty="0">
              <a:latin typeface="Arial" panose="020B0604020202020204" pitchFamily="34" charset="0"/>
              <a:cs typeface="Arial" panose="020B0604020202020204" pitchFamily="34" charset="0"/>
            </a:endParaRPr>
          </a:p>
        </p:txBody>
      </p:sp>
      <p:sp>
        <p:nvSpPr>
          <p:cNvPr id="7" name="Text 4"/>
          <p:cNvSpPr/>
          <p:nvPr/>
        </p:nvSpPr>
        <p:spPr>
          <a:xfrm>
            <a:off x="714375" y="2653178"/>
            <a:ext cx="1554463" cy="130805"/>
          </a:xfrm>
          <a:prstGeom prst="rect">
            <a:avLst/>
          </a:prstGeom>
          <a:noFill/>
          <a:ln/>
        </p:spPr>
        <p:txBody>
          <a:bodyPr wrap="square" lIns="0" tIns="0" rIns="0" bIns="0" rtlCol="0" anchor="t">
            <a:spAutoFit/>
          </a:bodyPr>
          <a:lstStyle/>
          <a:p>
            <a:pPr marL="0" indent="0" algn="ctr">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tasks</a:t>
            </a:r>
            <a:endParaRPr lang="en-US" sz="850" dirty="0">
              <a:latin typeface="Arial" panose="020B0604020202020204" pitchFamily="34" charset="0"/>
              <a:cs typeface="Arial" panose="020B0604020202020204" pitchFamily="34" charset="0"/>
            </a:endParaRPr>
          </a:p>
        </p:txBody>
      </p:sp>
      <p:sp>
        <p:nvSpPr>
          <p:cNvPr id="8" name="Text 5"/>
          <p:cNvSpPr/>
          <p:nvPr/>
        </p:nvSpPr>
        <p:spPr>
          <a:xfrm>
            <a:off x="2767952" y="1717346"/>
            <a:ext cx="1554463" cy="107722"/>
          </a:xfrm>
          <a:prstGeom prst="rect">
            <a:avLst/>
          </a:prstGeom>
          <a:noFill/>
          <a:ln/>
        </p:spPr>
        <p:txBody>
          <a:bodyPr wrap="square" lIns="0" tIns="0" rIns="0" bIns="0" rtlCol="0" anchor="t">
            <a:spAutoFit/>
          </a:bodyPr>
          <a:lstStyle/>
          <a:p>
            <a:pPr marL="0" indent="0" algn="ctr">
              <a:buNone/>
            </a:pPr>
            <a:r>
              <a:rPr lang="en-US" sz="700" kern="0" spc="2" dirty="0">
                <a:solidFill>
                  <a:srgbClr val="121A5D">
                    <a:alpha val="70000"/>
                  </a:srgbClr>
                </a:solidFill>
                <a:latin typeface="Arial" panose="020B0604020202020204" pitchFamily="34" charset="0"/>
                <a:ea typeface="Inter SemiBold" pitchFamily="34" charset="-122"/>
                <a:cs typeface="Arial" panose="020B0604020202020204" pitchFamily="34" charset="0"/>
              </a:rPr>
              <a:t>IN PROGRESS</a:t>
            </a:r>
            <a:endParaRPr lang="en-US" sz="700" dirty="0">
              <a:latin typeface="Arial" panose="020B0604020202020204" pitchFamily="34" charset="0"/>
              <a:cs typeface="Arial" panose="020B0604020202020204" pitchFamily="34" charset="0"/>
            </a:endParaRPr>
          </a:p>
        </p:txBody>
      </p:sp>
      <p:sp>
        <p:nvSpPr>
          <p:cNvPr id="9" name="Text 6"/>
          <p:cNvSpPr/>
          <p:nvPr/>
        </p:nvSpPr>
        <p:spPr>
          <a:xfrm>
            <a:off x="3389692" y="1981665"/>
            <a:ext cx="310983" cy="535531"/>
          </a:xfrm>
          <a:prstGeom prst="rect">
            <a:avLst/>
          </a:prstGeom>
          <a:noFill/>
          <a:ln/>
        </p:spPr>
        <p:txBody>
          <a:bodyPr wrap="none" lIns="0" tIns="0" rIns="0" bIns="0" rtlCol="0" anchor="t">
            <a:spAutoFit/>
          </a:bodyPr>
          <a:lstStyle/>
          <a:p>
            <a:pPr marL="0" indent="0" algn="ctr">
              <a:lnSpc>
                <a:spcPct val="80000"/>
              </a:lnSpc>
              <a:buNone/>
            </a:pPr>
            <a:r>
              <a:rPr lang="en-US" sz="4350" b="1" dirty="0">
                <a:solidFill>
                  <a:srgbClr val="121A5D"/>
                </a:solidFill>
                <a:latin typeface="Arial" panose="020B0604020202020204" pitchFamily="34" charset="0"/>
                <a:ea typeface="Cardo Bold" pitchFamily="34" charset="-122"/>
                <a:cs typeface="Arial" panose="020B0604020202020204" pitchFamily="34" charset="0"/>
              </a:rPr>
              <a:t>3</a:t>
            </a:r>
            <a:endParaRPr lang="en-US" sz="4350" dirty="0">
              <a:latin typeface="Arial" panose="020B0604020202020204" pitchFamily="34" charset="0"/>
              <a:cs typeface="Arial" panose="020B0604020202020204" pitchFamily="34" charset="0"/>
            </a:endParaRPr>
          </a:p>
        </p:txBody>
      </p:sp>
      <p:sp>
        <p:nvSpPr>
          <p:cNvPr id="10" name="Text 7"/>
          <p:cNvSpPr/>
          <p:nvPr/>
        </p:nvSpPr>
        <p:spPr>
          <a:xfrm>
            <a:off x="2767952" y="2653178"/>
            <a:ext cx="1554463" cy="130805"/>
          </a:xfrm>
          <a:prstGeom prst="rect">
            <a:avLst/>
          </a:prstGeom>
          <a:noFill/>
          <a:ln/>
        </p:spPr>
        <p:txBody>
          <a:bodyPr wrap="square" lIns="0" tIns="0" rIns="0" bIns="0" rtlCol="0" anchor="t">
            <a:spAutoFit/>
          </a:bodyPr>
          <a:lstStyle/>
          <a:p>
            <a:pPr marL="0" indent="0" algn="ctr">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tasks</a:t>
            </a:r>
            <a:endParaRPr lang="en-US" sz="850" dirty="0">
              <a:latin typeface="Arial" panose="020B0604020202020204" pitchFamily="34" charset="0"/>
              <a:cs typeface="Arial" panose="020B0604020202020204" pitchFamily="34" charset="0"/>
            </a:endParaRPr>
          </a:p>
        </p:txBody>
      </p:sp>
      <p:sp>
        <p:nvSpPr>
          <p:cNvPr id="11" name="Shape 8"/>
          <p:cNvSpPr/>
          <p:nvPr/>
        </p:nvSpPr>
        <p:spPr>
          <a:xfrm>
            <a:off x="4678654" y="1495890"/>
            <a:ext cx="1840213" cy="1571625"/>
          </a:xfrm>
          <a:prstGeom prst="rect">
            <a:avLst/>
          </a:prstGeom>
          <a:solidFill>
            <a:srgbClr val="121A5D"/>
          </a:solidFill>
          <a:ln/>
        </p:spPr>
      </p:sp>
      <p:sp>
        <p:nvSpPr>
          <p:cNvPr id="12" name="Shape 9"/>
          <p:cNvSpPr/>
          <p:nvPr/>
        </p:nvSpPr>
        <p:spPr>
          <a:xfrm>
            <a:off x="4678654" y="1495890"/>
            <a:ext cx="1840213" cy="28575"/>
          </a:xfrm>
          <a:prstGeom prst="rect">
            <a:avLst/>
          </a:prstGeom>
          <a:solidFill>
            <a:srgbClr val="0B6AE9"/>
          </a:solidFill>
          <a:ln/>
        </p:spPr>
      </p:sp>
      <p:sp>
        <p:nvSpPr>
          <p:cNvPr id="13" name="Text 10"/>
          <p:cNvSpPr/>
          <p:nvPr/>
        </p:nvSpPr>
        <p:spPr>
          <a:xfrm>
            <a:off x="4821529" y="1710203"/>
            <a:ext cx="1554463" cy="107722"/>
          </a:xfrm>
          <a:prstGeom prst="rect">
            <a:avLst/>
          </a:prstGeom>
          <a:noFill/>
          <a:ln/>
        </p:spPr>
        <p:txBody>
          <a:bodyPr wrap="square" lIns="0" tIns="0" rIns="0" bIns="0" rtlCol="0" anchor="t">
            <a:spAutoFit/>
          </a:bodyPr>
          <a:lstStyle/>
          <a:p>
            <a:pPr marL="0" indent="0" algn="ctr">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IN REVIEW</a:t>
            </a:r>
            <a:endParaRPr lang="en-US" sz="700" dirty="0">
              <a:latin typeface="Arial" panose="020B0604020202020204" pitchFamily="34" charset="0"/>
              <a:cs typeface="Arial" panose="020B0604020202020204" pitchFamily="34" charset="0"/>
            </a:endParaRPr>
          </a:p>
        </p:txBody>
      </p:sp>
      <p:sp>
        <p:nvSpPr>
          <p:cNvPr id="14" name="Text 11"/>
          <p:cNvSpPr/>
          <p:nvPr/>
        </p:nvSpPr>
        <p:spPr>
          <a:xfrm>
            <a:off x="5443269" y="1974521"/>
            <a:ext cx="310983" cy="535531"/>
          </a:xfrm>
          <a:prstGeom prst="rect">
            <a:avLst/>
          </a:prstGeom>
          <a:noFill/>
          <a:ln/>
        </p:spPr>
        <p:txBody>
          <a:bodyPr wrap="none" lIns="0" tIns="0" rIns="0" bIns="0" rtlCol="0" anchor="t">
            <a:spAutoFit/>
          </a:bodyPr>
          <a:lstStyle/>
          <a:p>
            <a:pPr marL="0" indent="0" algn="ctr">
              <a:lnSpc>
                <a:spcPct val="80000"/>
              </a:lnSpc>
              <a:buNone/>
            </a:pPr>
            <a:r>
              <a:rPr lang="en-US" sz="4350" b="1" dirty="0">
                <a:solidFill>
                  <a:srgbClr val="FFFFFF"/>
                </a:solidFill>
                <a:latin typeface="Arial" panose="020B0604020202020204" pitchFamily="34" charset="0"/>
                <a:ea typeface="Cardo Bold" pitchFamily="34" charset="-122"/>
                <a:cs typeface="Arial" panose="020B0604020202020204" pitchFamily="34" charset="0"/>
              </a:rPr>
              <a:t>9</a:t>
            </a:r>
            <a:endParaRPr lang="en-US" sz="4350" dirty="0">
              <a:latin typeface="Arial" panose="020B0604020202020204" pitchFamily="34" charset="0"/>
              <a:cs typeface="Arial" panose="020B0604020202020204" pitchFamily="34" charset="0"/>
            </a:endParaRPr>
          </a:p>
        </p:txBody>
      </p:sp>
      <p:sp>
        <p:nvSpPr>
          <p:cNvPr id="15" name="Text 12"/>
          <p:cNvSpPr/>
          <p:nvPr/>
        </p:nvSpPr>
        <p:spPr>
          <a:xfrm>
            <a:off x="4821529" y="2646034"/>
            <a:ext cx="1554463" cy="130805"/>
          </a:xfrm>
          <a:prstGeom prst="rect">
            <a:avLst/>
          </a:prstGeom>
          <a:noFill/>
          <a:ln/>
        </p:spPr>
        <p:txBody>
          <a:bodyPr wrap="square" lIns="0" tIns="0" rIns="0" bIns="0" rtlCol="0" anchor="t">
            <a:spAutoFit/>
          </a:bodyPr>
          <a:lstStyle/>
          <a:p>
            <a:pPr marL="0" indent="0" algn="ctr">
              <a:buNone/>
            </a:pPr>
            <a:r>
              <a:rPr lang="en-US" sz="850" dirty="0">
                <a:solidFill>
                  <a:srgbClr val="FFFFFF"/>
                </a:solidFill>
                <a:latin typeface="Arial" panose="020B0604020202020204" pitchFamily="34" charset="0"/>
                <a:ea typeface="Inter Light" pitchFamily="34" charset="-122"/>
                <a:cs typeface="Arial" panose="020B0604020202020204" pitchFamily="34" charset="0"/>
              </a:rPr>
              <a:t>tasks (bottleneck)</a:t>
            </a:r>
            <a:endParaRPr lang="en-US" sz="850" dirty="0">
              <a:latin typeface="Arial" panose="020B0604020202020204" pitchFamily="34" charset="0"/>
              <a:cs typeface="Arial" panose="020B0604020202020204" pitchFamily="34" charset="0"/>
            </a:endParaRPr>
          </a:p>
        </p:txBody>
      </p:sp>
      <p:sp>
        <p:nvSpPr>
          <p:cNvPr id="16" name="Text 13"/>
          <p:cNvSpPr/>
          <p:nvPr/>
        </p:nvSpPr>
        <p:spPr>
          <a:xfrm>
            <a:off x="6875106" y="1717346"/>
            <a:ext cx="1554463" cy="107722"/>
          </a:xfrm>
          <a:prstGeom prst="rect">
            <a:avLst/>
          </a:prstGeom>
          <a:noFill/>
          <a:ln/>
        </p:spPr>
        <p:txBody>
          <a:bodyPr wrap="square" lIns="0" tIns="0" rIns="0" bIns="0" rtlCol="0" anchor="t">
            <a:spAutoFit/>
          </a:bodyPr>
          <a:lstStyle/>
          <a:p>
            <a:pPr marL="0" indent="0" algn="ctr">
              <a:buNone/>
            </a:pPr>
            <a:r>
              <a:rPr lang="en-US" sz="700" kern="0" spc="2" dirty="0">
                <a:solidFill>
                  <a:srgbClr val="121A5D">
                    <a:alpha val="70000"/>
                  </a:srgbClr>
                </a:solidFill>
                <a:latin typeface="Arial" panose="020B0604020202020204" pitchFamily="34" charset="0"/>
                <a:ea typeface="Inter SemiBold" pitchFamily="34" charset="-122"/>
                <a:cs typeface="Arial" panose="020B0604020202020204" pitchFamily="34" charset="0"/>
              </a:rPr>
              <a:t>DONE</a:t>
            </a:r>
            <a:endParaRPr lang="en-US" sz="700" dirty="0">
              <a:latin typeface="Arial" panose="020B0604020202020204" pitchFamily="34" charset="0"/>
              <a:cs typeface="Arial" panose="020B0604020202020204" pitchFamily="34" charset="0"/>
            </a:endParaRPr>
          </a:p>
        </p:txBody>
      </p:sp>
      <p:sp>
        <p:nvSpPr>
          <p:cNvPr id="17" name="Text 14"/>
          <p:cNvSpPr/>
          <p:nvPr/>
        </p:nvSpPr>
        <p:spPr>
          <a:xfrm>
            <a:off x="7496846" y="1981665"/>
            <a:ext cx="310983" cy="535531"/>
          </a:xfrm>
          <a:prstGeom prst="rect">
            <a:avLst/>
          </a:prstGeom>
          <a:noFill/>
          <a:ln/>
        </p:spPr>
        <p:txBody>
          <a:bodyPr wrap="none" lIns="0" tIns="0" rIns="0" bIns="0" rtlCol="0" anchor="t">
            <a:spAutoFit/>
          </a:bodyPr>
          <a:lstStyle/>
          <a:p>
            <a:pPr marL="0" indent="0" algn="ctr">
              <a:lnSpc>
                <a:spcPct val="80000"/>
              </a:lnSpc>
              <a:buNone/>
            </a:pPr>
            <a:r>
              <a:rPr lang="en-US" sz="4350" b="1" dirty="0">
                <a:solidFill>
                  <a:srgbClr val="121A5D"/>
                </a:solidFill>
                <a:latin typeface="Arial" panose="020B0604020202020204" pitchFamily="34" charset="0"/>
                <a:ea typeface="Cardo Bold" pitchFamily="34" charset="-122"/>
                <a:cs typeface="Arial" panose="020B0604020202020204" pitchFamily="34" charset="0"/>
              </a:rPr>
              <a:t>5</a:t>
            </a:r>
            <a:endParaRPr lang="en-US" sz="4350" dirty="0">
              <a:latin typeface="Arial" panose="020B0604020202020204" pitchFamily="34" charset="0"/>
              <a:cs typeface="Arial" panose="020B0604020202020204" pitchFamily="34" charset="0"/>
            </a:endParaRPr>
          </a:p>
        </p:txBody>
      </p:sp>
      <p:sp>
        <p:nvSpPr>
          <p:cNvPr id="18" name="Text 15"/>
          <p:cNvSpPr/>
          <p:nvPr/>
        </p:nvSpPr>
        <p:spPr>
          <a:xfrm>
            <a:off x="6875106" y="2653178"/>
            <a:ext cx="1554463" cy="130805"/>
          </a:xfrm>
          <a:prstGeom prst="rect">
            <a:avLst/>
          </a:prstGeom>
          <a:noFill/>
          <a:ln/>
        </p:spPr>
        <p:txBody>
          <a:bodyPr wrap="square" lIns="0" tIns="0" rIns="0" bIns="0" rtlCol="0" anchor="t">
            <a:spAutoFit/>
          </a:bodyPr>
          <a:lstStyle/>
          <a:p>
            <a:pPr marL="0" indent="0" algn="ctr">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tasks</a:t>
            </a:r>
            <a:endParaRPr lang="en-US" sz="850" dirty="0">
              <a:latin typeface="Arial" panose="020B0604020202020204" pitchFamily="34" charset="0"/>
              <a:cs typeface="Arial" panose="020B0604020202020204" pitchFamily="34" charset="0"/>
            </a:endParaRPr>
          </a:p>
        </p:txBody>
      </p:sp>
      <p:sp>
        <p:nvSpPr>
          <p:cNvPr id="19" name="Text 16"/>
          <p:cNvSpPr/>
          <p:nvPr/>
        </p:nvSpPr>
        <p:spPr>
          <a:xfrm>
            <a:off x="571500" y="3496140"/>
            <a:ext cx="3600450" cy="184666"/>
          </a:xfrm>
          <a:prstGeom prst="rect">
            <a:avLst/>
          </a:prstGeom>
          <a:noFill/>
          <a:ln/>
        </p:spPr>
        <p:txBody>
          <a:bodyPr wrap="square" lIns="0" tIns="0" rIns="0" bIns="0" rtlCol="0" anchor="t">
            <a:spAutoFit/>
          </a:bodyPr>
          <a:lstStyle/>
          <a:p>
            <a:pPr marL="0" indent="0" algn="l">
              <a:buNone/>
            </a:pPr>
            <a:r>
              <a:rPr lang="en-US" sz="1200" b="1" dirty="0">
                <a:solidFill>
                  <a:srgbClr val="0B6AE9"/>
                </a:solidFill>
                <a:latin typeface="Arial" panose="020B0604020202020204" pitchFamily="34" charset="0"/>
                <a:ea typeface="Cardo Bold" pitchFamily="34" charset="-122"/>
                <a:cs typeface="Arial" panose="020B0604020202020204" pitchFamily="34" charset="0"/>
              </a:rPr>
              <a:t>Visual Indicators</a:t>
            </a:r>
            <a:endParaRPr lang="en-US" sz="1200" dirty="0">
              <a:latin typeface="Arial" panose="020B0604020202020204" pitchFamily="34" charset="0"/>
              <a:cs typeface="Arial" panose="020B0604020202020204" pitchFamily="34" charset="0"/>
            </a:endParaRPr>
          </a:p>
        </p:txBody>
      </p:sp>
      <p:sp>
        <p:nvSpPr>
          <p:cNvPr id="20" name="Text 17"/>
          <p:cNvSpPr/>
          <p:nvPr/>
        </p:nvSpPr>
        <p:spPr>
          <a:xfrm>
            <a:off x="721519" y="3871187"/>
            <a:ext cx="3450431" cy="314381"/>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One stage has significantly more tasks than any other in the pipeline.</a:t>
            </a:r>
            <a:endParaRPr lang="en-US" sz="950" dirty="0">
              <a:latin typeface="Arial" panose="020B0604020202020204" pitchFamily="34" charset="0"/>
              <a:cs typeface="Arial" panose="020B0604020202020204" pitchFamily="34" charset="0"/>
            </a:endParaRPr>
          </a:p>
        </p:txBody>
      </p:sp>
      <p:sp>
        <p:nvSpPr>
          <p:cNvPr id="21" name="Text 18"/>
          <p:cNvSpPr/>
          <p:nvPr/>
        </p:nvSpPr>
        <p:spPr>
          <a:xfrm>
            <a:off x="721519" y="4338377"/>
            <a:ext cx="3450431" cy="314381"/>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Work-in-Progress (WIP) continues to grow without corresponding completions.</a:t>
            </a:r>
            <a:endParaRPr lang="en-US" sz="950" dirty="0">
              <a:latin typeface="Arial" panose="020B0604020202020204" pitchFamily="34" charset="0"/>
              <a:cs typeface="Arial" panose="020B0604020202020204" pitchFamily="34" charset="0"/>
            </a:endParaRPr>
          </a:p>
        </p:txBody>
      </p:sp>
      <p:sp>
        <p:nvSpPr>
          <p:cNvPr id="22" name="Text 19"/>
          <p:cNvSpPr/>
          <p:nvPr/>
        </p:nvSpPr>
        <p:spPr>
          <a:xfrm>
            <a:off x="4972050" y="3496140"/>
            <a:ext cx="3600450" cy="184666"/>
          </a:xfrm>
          <a:prstGeom prst="rect">
            <a:avLst/>
          </a:prstGeom>
          <a:noFill/>
          <a:ln/>
        </p:spPr>
        <p:txBody>
          <a:bodyPr wrap="square" lIns="0" tIns="0" rIns="0" bIns="0" rtlCol="0" anchor="t">
            <a:spAutoFit/>
          </a:bodyPr>
          <a:lstStyle/>
          <a:p>
            <a:pPr marL="0" indent="0" algn="l">
              <a:buNone/>
            </a:pPr>
            <a:r>
              <a:rPr lang="en-US" sz="1200" b="1" dirty="0">
                <a:solidFill>
                  <a:srgbClr val="0B6AE9"/>
                </a:solidFill>
                <a:latin typeface="Arial" panose="020B0604020202020204" pitchFamily="34" charset="0"/>
                <a:ea typeface="Cardo Bold" pitchFamily="34" charset="-122"/>
                <a:cs typeface="Arial" panose="020B0604020202020204" pitchFamily="34" charset="0"/>
              </a:rPr>
              <a:t>Operational Signals</a:t>
            </a:r>
            <a:endParaRPr lang="en-US" sz="1200" dirty="0">
              <a:latin typeface="Arial" panose="020B0604020202020204" pitchFamily="34" charset="0"/>
              <a:cs typeface="Arial" panose="020B0604020202020204" pitchFamily="34" charset="0"/>
            </a:endParaRPr>
          </a:p>
        </p:txBody>
      </p:sp>
      <p:sp>
        <p:nvSpPr>
          <p:cNvPr id="23" name="Text 20"/>
          <p:cNvSpPr/>
          <p:nvPr/>
        </p:nvSpPr>
        <p:spPr>
          <a:xfrm>
            <a:off x="5122069" y="3871187"/>
            <a:ext cx="3450431" cy="314381"/>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Tasks sit in a specific status much longer than the historical average.</a:t>
            </a:r>
            <a:endParaRPr lang="en-US" sz="950" dirty="0">
              <a:latin typeface="Arial" panose="020B0604020202020204" pitchFamily="34" charset="0"/>
              <a:cs typeface="Arial" panose="020B0604020202020204" pitchFamily="34" charset="0"/>
            </a:endParaRPr>
          </a:p>
        </p:txBody>
      </p:sp>
      <p:sp>
        <p:nvSpPr>
          <p:cNvPr id="24" name="Text 21"/>
          <p:cNvSpPr/>
          <p:nvPr/>
        </p:nvSpPr>
        <p:spPr>
          <a:xfrm>
            <a:off x="5122069" y="4338377"/>
            <a:ext cx="3450431" cy="314381"/>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One individual or resource has far more active tasks than the rest of the team.</a:t>
            </a:r>
            <a:endParaRPr lang="en-US" sz="950" dirty="0">
              <a:latin typeface="Arial" panose="020B0604020202020204" pitchFamily="34" charset="0"/>
              <a:cs typeface="Arial" panose="020B0604020202020204" pitchFamily="34" charset="0"/>
            </a:endParaRPr>
          </a:p>
        </p:txBody>
      </p:sp>
      <p:sp>
        <p:nvSpPr>
          <p:cNvPr id="25" name="Text 22"/>
          <p:cNvSpPr/>
          <p:nvPr/>
        </p:nvSpPr>
        <p:spPr>
          <a:xfrm>
            <a:off x="7472363"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SECTION 03 / PAGE 09</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4276812" cy="446917"/>
          </a:xfrm>
          <a:prstGeom prst="rect">
            <a:avLst/>
          </a:prstGeom>
          <a:noFill/>
          <a:ln/>
        </p:spPr>
        <p:txBody>
          <a:bodyPr wrap="none" lIns="0" tIns="0" rIns="0" bIns="0" rtlCol="0" anchor="t">
            <a:spAutoFit/>
          </a:bodyPr>
          <a:lstStyle/>
          <a:p>
            <a:pPr marL="0" indent="0" algn="l">
              <a:lnSpc>
                <a:spcPct val="88000"/>
              </a:lnSpc>
              <a:buNone/>
            </a:pPr>
            <a:r>
              <a:rPr lang="en-US" sz="3300" b="1" dirty="0">
                <a:solidFill>
                  <a:srgbClr val="121A5D"/>
                </a:solidFill>
                <a:latin typeface="Arial" panose="020B0604020202020204" pitchFamily="34" charset="0"/>
                <a:ea typeface="Cardo Bold" pitchFamily="34" charset="-122"/>
                <a:cs typeface="Arial" panose="020B0604020202020204" pitchFamily="34" charset="0"/>
              </a:rPr>
              <a:t>Fixing the Bottleneck</a:t>
            </a:r>
            <a:endParaRPr lang="en-US" sz="3300" dirty="0">
              <a:latin typeface="Arial" panose="020B0604020202020204" pitchFamily="34" charset="0"/>
              <a:cs typeface="Arial" panose="020B0604020202020204" pitchFamily="34" charset="0"/>
            </a:endParaRPr>
          </a:p>
        </p:txBody>
      </p:sp>
      <p:sp>
        <p:nvSpPr>
          <p:cNvPr id="4" name="Text 1"/>
          <p:cNvSpPr/>
          <p:nvPr/>
        </p:nvSpPr>
        <p:spPr>
          <a:xfrm>
            <a:off x="571500" y="1002971"/>
            <a:ext cx="8572500" cy="192360"/>
          </a:xfrm>
          <a:prstGeom prst="rect">
            <a:avLst/>
          </a:prstGeom>
          <a:noFill/>
          <a:ln/>
        </p:spPr>
        <p:txBody>
          <a:bodyPr wrap="square" lIns="0" tIns="0" rIns="0" bIns="0" rtlCol="0" anchor="t">
            <a:spAutoFit/>
          </a:bodyPr>
          <a:lstStyle/>
          <a:p>
            <a:pPr marL="0" indent="0" algn="l">
              <a:buNone/>
            </a:pPr>
            <a:r>
              <a:rPr lang="en-US" sz="1250" dirty="0">
                <a:solidFill>
                  <a:srgbClr val="0B6AE9"/>
                </a:solidFill>
                <a:latin typeface="Arial" panose="020B0604020202020204" pitchFamily="34" charset="0"/>
                <a:ea typeface="Inter Light" pitchFamily="34" charset="-122"/>
                <a:cs typeface="Arial" panose="020B0604020202020204" pitchFamily="34" charset="0"/>
              </a:rPr>
              <a:t>Applying the Theory of Constraints to delivery</a:t>
            </a:r>
            <a:endParaRPr lang="en-US" sz="1250" dirty="0">
              <a:latin typeface="Arial" panose="020B0604020202020204" pitchFamily="34" charset="0"/>
              <a:cs typeface="Arial" panose="020B0604020202020204" pitchFamily="34" charset="0"/>
            </a:endParaRPr>
          </a:p>
        </p:txBody>
      </p:sp>
      <p:sp>
        <p:nvSpPr>
          <p:cNvPr id="5" name="Text 2"/>
          <p:cNvSpPr/>
          <p:nvPr/>
        </p:nvSpPr>
        <p:spPr>
          <a:xfrm>
            <a:off x="571500" y="1738778"/>
            <a:ext cx="2480304" cy="107722"/>
          </a:xfrm>
          <a:prstGeom prst="rect">
            <a:avLst/>
          </a:prstGeom>
          <a:noFill/>
          <a:ln/>
        </p:spPr>
        <p:txBody>
          <a:bodyPr wrap="square" lIns="0" tIns="0" rIns="0" bIns="0" rtlCol="0" anchor="t">
            <a:spAutoFit/>
          </a:bodyPr>
          <a:lstStyle/>
          <a:p>
            <a:pPr marL="0" indent="0" algn="l">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THE PROBLEM</a:t>
            </a:r>
            <a:endParaRPr lang="en-US" sz="700" dirty="0">
              <a:latin typeface="Arial" panose="020B0604020202020204" pitchFamily="34" charset="0"/>
              <a:cs typeface="Arial" panose="020B0604020202020204" pitchFamily="34" charset="0"/>
            </a:endParaRPr>
          </a:p>
        </p:txBody>
      </p:sp>
      <p:sp>
        <p:nvSpPr>
          <p:cNvPr id="6" name="Text 3"/>
          <p:cNvSpPr/>
          <p:nvPr/>
        </p:nvSpPr>
        <p:spPr>
          <a:xfrm>
            <a:off x="571500" y="1931659"/>
            <a:ext cx="2480304" cy="246221"/>
          </a:xfrm>
          <a:prstGeom prst="rect">
            <a:avLst/>
          </a:prstGeom>
          <a:noFill/>
          <a:ln/>
        </p:spPr>
        <p:txBody>
          <a:bodyPr wrap="square" lIns="0" tIns="0" rIns="0" bIns="0" rtlCol="0" anchor="t">
            <a:spAutoFit/>
          </a:bodyPr>
          <a:lstStyle/>
          <a:p>
            <a:pPr marL="0" indent="0" algn="l">
              <a:buNone/>
            </a:pPr>
            <a:r>
              <a:rPr lang="en-US" sz="1600" b="1" dirty="0">
                <a:solidFill>
                  <a:srgbClr val="121A5D"/>
                </a:solidFill>
                <a:latin typeface="Arial" panose="020B0604020202020204" pitchFamily="34" charset="0"/>
                <a:ea typeface="Cardo Bold" pitchFamily="34" charset="-122"/>
                <a:cs typeface="Arial" panose="020B0604020202020204" pitchFamily="34" charset="0"/>
              </a:rPr>
              <a:t>Systemic Stall</a:t>
            </a:r>
            <a:endParaRPr lang="en-US" sz="16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4"/>
          <a:stretch>
            <a:fillRect/>
          </a:stretch>
        </p:blipFill>
        <p:spPr>
          <a:xfrm>
            <a:off x="571500" y="2483514"/>
            <a:ext cx="285750" cy="285750"/>
          </a:xfrm>
          <a:prstGeom prst="rect">
            <a:avLst/>
          </a:prstGeom>
        </p:spPr>
      </p:pic>
      <p:sp>
        <p:nvSpPr>
          <p:cNvPr id="8" name="Text 4"/>
          <p:cNvSpPr/>
          <p:nvPr/>
        </p:nvSpPr>
        <p:spPr>
          <a:xfrm>
            <a:off x="700088" y="2981790"/>
            <a:ext cx="2351717"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Four critical tasks (SF-7 to SF-10) are stalled in the 'In Review' stage.</a:t>
            </a:r>
            <a:endParaRPr lang="en-US" sz="950" dirty="0">
              <a:latin typeface="Arial" panose="020B0604020202020204" pitchFamily="34" charset="0"/>
              <a:cs typeface="Arial" panose="020B0604020202020204" pitchFamily="34" charset="0"/>
            </a:endParaRPr>
          </a:p>
        </p:txBody>
      </p:sp>
      <p:sp>
        <p:nvSpPr>
          <p:cNvPr id="9" name="Text 5"/>
          <p:cNvSpPr/>
          <p:nvPr/>
        </p:nvSpPr>
        <p:spPr>
          <a:xfrm>
            <a:off x="700088" y="3500382"/>
            <a:ext cx="2351717"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Single Product Owner creates a linear dependency for parallel work.</a:t>
            </a:r>
            <a:endParaRPr lang="en-US" sz="950" dirty="0">
              <a:latin typeface="Arial" panose="020B0604020202020204" pitchFamily="34" charset="0"/>
              <a:cs typeface="Arial" panose="020B0604020202020204" pitchFamily="34" charset="0"/>
            </a:endParaRPr>
          </a:p>
        </p:txBody>
      </p:sp>
      <p:sp>
        <p:nvSpPr>
          <p:cNvPr id="10" name="Shape 6"/>
          <p:cNvSpPr/>
          <p:nvPr/>
        </p:nvSpPr>
        <p:spPr>
          <a:xfrm>
            <a:off x="3331834" y="1567328"/>
            <a:ext cx="2480304" cy="3576172"/>
          </a:xfrm>
          <a:prstGeom prst="rect">
            <a:avLst/>
          </a:prstGeom>
          <a:solidFill>
            <a:srgbClr val="121A5D"/>
          </a:solidFill>
          <a:ln/>
        </p:spPr>
      </p:sp>
      <p:sp>
        <p:nvSpPr>
          <p:cNvPr id="11" name="Text 7"/>
          <p:cNvSpPr/>
          <p:nvPr/>
        </p:nvSpPr>
        <p:spPr>
          <a:xfrm>
            <a:off x="3546146" y="1953090"/>
            <a:ext cx="2051679" cy="107722"/>
          </a:xfrm>
          <a:prstGeom prst="rect">
            <a:avLst/>
          </a:prstGeom>
          <a:noFill/>
          <a:ln/>
        </p:spPr>
        <p:txBody>
          <a:bodyPr wrap="square" lIns="0" tIns="0" rIns="0" bIns="0" rtlCol="0" anchor="t">
            <a:spAutoFit/>
          </a:bodyPr>
          <a:lstStyle/>
          <a:p>
            <a:pPr marL="0" indent="0" algn="l">
              <a:buNone/>
            </a:pPr>
            <a:r>
              <a:rPr lang="en-US" sz="700" kern="0" spc="2" dirty="0">
                <a:solidFill>
                  <a:srgbClr val="FFFFFF">
                    <a:alpha val="70000"/>
                  </a:srgbClr>
                </a:solidFill>
                <a:latin typeface="Arial" panose="020B0604020202020204" pitchFamily="34" charset="0"/>
                <a:ea typeface="Inter SemiBold" pitchFamily="34" charset="-122"/>
                <a:cs typeface="Arial" panose="020B0604020202020204" pitchFamily="34" charset="0"/>
              </a:rPr>
              <a:t>STRATEGIC ACTION</a:t>
            </a:r>
            <a:endParaRPr lang="en-US" sz="700" dirty="0">
              <a:latin typeface="Arial" panose="020B0604020202020204" pitchFamily="34" charset="0"/>
              <a:cs typeface="Arial" panose="020B0604020202020204" pitchFamily="34" charset="0"/>
            </a:endParaRPr>
          </a:p>
        </p:txBody>
      </p:sp>
      <p:sp>
        <p:nvSpPr>
          <p:cNvPr id="12" name="Text 8"/>
          <p:cNvSpPr/>
          <p:nvPr/>
        </p:nvSpPr>
        <p:spPr>
          <a:xfrm>
            <a:off x="3546146" y="2145971"/>
            <a:ext cx="2051679" cy="246221"/>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anose="020B0604020202020204" pitchFamily="34" charset="0"/>
                <a:ea typeface="Cardo Bold" pitchFamily="34" charset="-122"/>
                <a:cs typeface="Arial" panose="020B0604020202020204" pitchFamily="34" charset="0"/>
              </a:rPr>
              <a:t>Capacity Expansion</a:t>
            </a:r>
            <a:endParaRPr lang="en-US" sz="1600" dirty="0">
              <a:latin typeface="Arial" panose="020B0604020202020204" pitchFamily="34" charset="0"/>
              <a:cs typeface="Arial" panose="020B0604020202020204" pitchFamily="34" charset="0"/>
            </a:endParaRPr>
          </a:p>
        </p:txBody>
      </p:sp>
      <p:pic>
        <p:nvPicPr>
          <p:cNvPr id="13" name="Image 2" descr="preencoded.png"/>
          <p:cNvPicPr>
            <a:picLocks noChangeAspect="1"/>
          </p:cNvPicPr>
          <p:nvPr/>
        </p:nvPicPr>
        <p:blipFill>
          <a:blip r:embed="rId5"/>
          <a:stretch>
            <a:fillRect/>
          </a:stretch>
        </p:blipFill>
        <p:spPr>
          <a:xfrm>
            <a:off x="3546146" y="3008579"/>
            <a:ext cx="214313" cy="285750"/>
          </a:xfrm>
          <a:prstGeom prst="rect">
            <a:avLst/>
          </a:prstGeom>
        </p:spPr>
      </p:pic>
      <p:sp>
        <p:nvSpPr>
          <p:cNvPr id="14" name="Text 9"/>
          <p:cNvSpPr/>
          <p:nvPr/>
        </p:nvSpPr>
        <p:spPr>
          <a:xfrm>
            <a:off x="3674734" y="3506856"/>
            <a:ext cx="1923092"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FFFFF"/>
                </a:solidFill>
                <a:latin typeface="Arial" panose="020B0604020202020204" pitchFamily="34" charset="0"/>
                <a:ea typeface="Inter Light" pitchFamily="34" charset="-122"/>
                <a:cs typeface="Arial" panose="020B0604020202020204" pitchFamily="34" charset="0"/>
              </a:rPr>
              <a:t>Train a secondary reviewer to verify work against the Definition of Done.</a:t>
            </a:r>
            <a:endParaRPr lang="en-US" sz="950" dirty="0">
              <a:latin typeface="Arial" panose="020B0604020202020204" pitchFamily="34" charset="0"/>
              <a:cs typeface="Arial" panose="020B0604020202020204" pitchFamily="34" charset="0"/>
            </a:endParaRPr>
          </a:p>
        </p:txBody>
      </p:sp>
      <p:sp>
        <p:nvSpPr>
          <p:cNvPr id="15" name="Text 10"/>
          <p:cNvSpPr/>
          <p:nvPr/>
        </p:nvSpPr>
        <p:spPr>
          <a:xfrm>
            <a:off x="3674734" y="4231165"/>
            <a:ext cx="1923092"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FFFFF"/>
                </a:solidFill>
                <a:latin typeface="Arial" panose="020B0604020202020204" pitchFamily="34" charset="0"/>
                <a:ea typeface="Inter Light" pitchFamily="34" charset="-122"/>
                <a:cs typeface="Arial" panose="020B0604020202020204" pitchFamily="34" charset="0"/>
              </a:rPr>
              <a:t>Delegate approval authority for non-critical UI components.</a:t>
            </a:r>
            <a:endParaRPr lang="en-US" sz="950" dirty="0">
              <a:latin typeface="Arial" panose="020B0604020202020204" pitchFamily="34" charset="0"/>
              <a:cs typeface="Arial" panose="020B0604020202020204" pitchFamily="34" charset="0"/>
            </a:endParaRPr>
          </a:p>
        </p:txBody>
      </p:sp>
      <p:sp>
        <p:nvSpPr>
          <p:cNvPr id="16" name="Text 11"/>
          <p:cNvSpPr/>
          <p:nvPr/>
        </p:nvSpPr>
        <p:spPr>
          <a:xfrm>
            <a:off x="6092168" y="1738778"/>
            <a:ext cx="2480304" cy="107722"/>
          </a:xfrm>
          <a:prstGeom prst="rect">
            <a:avLst/>
          </a:prstGeom>
          <a:noFill/>
          <a:ln/>
        </p:spPr>
        <p:txBody>
          <a:bodyPr wrap="square" lIns="0" tIns="0" rIns="0" bIns="0" rtlCol="0" anchor="t">
            <a:spAutoFit/>
          </a:bodyPr>
          <a:lstStyle/>
          <a:p>
            <a:pPr marL="0" indent="0" algn="l">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THE IMPACT</a:t>
            </a:r>
            <a:endParaRPr lang="en-US" sz="700" dirty="0">
              <a:latin typeface="Arial" panose="020B0604020202020204" pitchFamily="34" charset="0"/>
              <a:cs typeface="Arial" panose="020B0604020202020204" pitchFamily="34" charset="0"/>
            </a:endParaRPr>
          </a:p>
        </p:txBody>
      </p:sp>
      <p:sp>
        <p:nvSpPr>
          <p:cNvPr id="17" name="Text 12"/>
          <p:cNvSpPr/>
          <p:nvPr/>
        </p:nvSpPr>
        <p:spPr>
          <a:xfrm>
            <a:off x="6092168" y="1931659"/>
            <a:ext cx="2480304" cy="246221"/>
          </a:xfrm>
          <a:prstGeom prst="rect">
            <a:avLst/>
          </a:prstGeom>
          <a:noFill/>
          <a:ln/>
        </p:spPr>
        <p:txBody>
          <a:bodyPr wrap="square" lIns="0" tIns="0" rIns="0" bIns="0" rtlCol="0" anchor="t">
            <a:spAutoFit/>
          </a:bodyPr>
          <a:lstStyle/>
          <a:p>
            <a:pPr marL="0" indent="0" algn="l">
              <a:buNone/>
            </a:pPr>
            <a:r>
              <a:rPr lang="en-US" sz="1600" b="1" dirty="0">
                <a:solidFill>
                  <a:srgbClr val="121A5D"/>
                </a:solidFill>
                <a:latin typeface="Arial" panose="020B0604020202020204" pitchFamily="34" charset="0"/>
                <a:ea typeface="Cardo Bold" pitchFamily="34" charset="-122"/>
                <a:cs typeface="Arial" panose="020B0604020202020204" pitchFamily="34" charset="0"/>
              </a:rPr>
              <a:t>Restored Velocity</a:t>
            </a:r>
            <a:endParaRPr lang="en-US" sz="1600" dirty="0">
              <a:latin typeface="Arial" panose="020B0604020202020204" pitchFamily="34" charset="0"/>
              <a:cs typeface="Arial" panose="020B0604020202020204" pitchFamily="34" charset="0"/>
            </a:endParaRPr>
          </a:p>
        </p:txBody>
      </p:sp>
      <p:pic>
        <p:nvPicPr>
          <p:cNvPr id="18" name="Image 3" descr="preencoded.png"/>
          <p:cNvPicPr>
            <a:picLocks noChangeAspect="1"/>
          </p:cNvPicPr>
          <p:nvPr/>
        </p:nvPicPr>
        <p:blipFill>
          <a:blip r:embed="rId6"/>
          <a:stretch>
            <a:fillRect/>
          </a:stretch>
        </p:blipFill>
        <p:spPr>
          <a:xfrm>
            <a:off x="6092168" y="2483514"/>
            <a:ext cx="285750" cy="285750"/>
          </a:xfrm>
          <a:prstGeom prst="rect">
            <a:avLst/>
          </a:prstGeom>
        </p:spPr>
      </p:pic>
      <p:sp>
        <p:nvSpPr>
          <p:cNvPr id="19" name="Text 13"/>
          <p:cNvSpPr/>
          <p:nvPr/>
        </p:nvSpPr>
        <p:spPr>
          <a:xfrm>
            <a:off x="6220755" y="2981790"/>
            <a:ext cx="2351717"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Review cycle time reduced by 60%, clearing the backlog within 48 hours.</a:t>
            </a:r>
            <a:endParaRPr lang="en-US" sz="950" dirty="0">
              <a:latin typeface="Arial" panose="020B0604020202020204" pitchFamily="34" charset="0"/>
              <a:cs typeface="Arial" panose="020B0604020202020204" pitchFamily="34" charset="0"/>
            </a:endParaRPr>
          </a:p>
        </p:txBody>
      </p:sp>
      <p:sp>
        <p:nvSpPr>
          <p:cNvPr id="20" name="Text 14"/>
          <p:cNvSpPr/>
          <p:nvPr/>
        </p:nvSpPr>
        <p:spPr>
          <a:xfrm>
            <a:off x="6220755" y="3500382"/>
            <a:ext cx="2351717"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121A5D"/>
                </a:solidFill>
                <a:latin typeface="Arial" panose="020B0604020202020204" pitchFamily="34" charset="0"/>
                <a:ea typeface="Inter Light" pitchFamily="34" charset="-122"/>
                <a:cs typeface="Arial" panose="020B0604020202020204" pitchFamily="34" charset="0"/>
              </a:rPr>
              <a:t>Overall chain velocity increases as downstream tasks are unblocked.</a:t>
            </a:r>
            <a:endParaRPr lang="en-US" sz="950" dirty="0">
              <a:latin typeface="Arial" panose="020B0604020202020204" pitchFamily="34" charset="0"/>
              <a:cs typeface="Arial" panose="020B0604020202020204" pitchFamily="34" charset="0"/>
            </a:endParaRPr>
          </a:p>
        </p:txBody>
      </p:sp>
      <p:sp>
        <p:nvSpPr>
          <p:cNvPr id="21" name="Text 15"/>
          <p:cNvSpPr/>
          <p:nvPr/>
        </p:nvSpPr>
        <p:spPr>
          <a:xfrm>
            <a:off x="7493794" y="4736306"/>
            <a:ext cx="1043555" cy="115416"/>
          </a:xfrm>
          <a:prstGeom prst="rect">
            <a:avLst/>
          </a:prstGeom>
          <a:noFill/>
          <a:ln/>
        </p:spPr>
        <p:txBody>
          <a:bodyPr wrap="non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SECTION 03 / PAGE 10</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4609339" cy="446917"/>
          </a:xfrm>
          <a:prstGeom prst="rect">
            <a:avLst/>
          </a:prstGeom>
          <a:noFill/>
          <a:ln/>
        </p:spPr>
        <p:txBody>
          <a:bodyPr wrap="none" lIns="0" tIns="0" rIns="0" bIns="0" rtlCol="0" anchor="t">
            <a:spAutoFit/>
          </a:bodyPr>
          <a:lstStyle/>
          <a:p>
            <a:pPr marL="0" indent="0" algn="l">
              <a:lnSpc>
                <a:spcPct val="88000"/>
              </a:lnSpc>
              <a:buNone/>
            </a:pPr>
            <a:r>
              <a:rPr lang="en-US" sz="3300" b="1" dirty="0">
                <a:solidFill>
                  <a:srgbClr val="121A5D"/>
                </a:solidFill>
                <a:latin typeface="Arial" panose="020B0604020202020204" pitchFamily="34" charset="0"/>
                <a:ea typeface="Cardo Bold" pitchFamily="34" charset="-122"/>
                <a:cs typeface="Arial" panose="020B0604020202020204" pitchFamily="34" charset="0"/>
              </a:rPr>
              <a:t>Live Execution Tracker</a:t>
            </a:r>
            <a:endParaRPr lang="en-US" sz="3300" dirty="0">
              <a:latin typeface="Arial" panose="020B0604020202020204" pitchFamily="34" charset="0"/>
              <a:cs typeface="Arial" panose="020B0604020202020204" pitchFamily="34" charset="0"/>
            </a:endParaRPr>
          </a:p>
        </p:txBody>
      </p:sp>
      <p:sp>
        <p:nvSpPr>
          <p:cNvPr id="4" name="Text 1"/>
          <p:cNvSpPr/>
          <p:nvPr/>
        </p:nvSpPr>
        <p:spPr>
          <a:xfrm>
            <a:off x="571500" y="1002971"/>
            <a:ext cx="8572500" cy="192360"/>
          </a:xfrm>
          <a:prstGeom prst="rect">
            <a:avLst/>
          </a:prstGeom>
          <a:noFill/>
          <a:ln/>
        </p:spPr>
        <p:txBody>
          <a:bodyPr wrap="square" lIns="0" tIns="0" rIns="0" bIns="0" rtlCol="0" anchor="t">
            <a:spAutoFit/>
          </a:bodyPr>
          <a:lstStyle/>
          <a:p>
            <a:pPr marL="0" indent="0" algn="l">
              <a:buNone/>
            </a:pPr>
            <a:r>
              <a:rPr lang="en-US" sz="1250" dirty="0">
                <a:solidFill>
                  <a:srgbClr val="0B6AE9"/>
                </a:solidFill>
                <a:latin typeface="Arial" panose="020B0604020202020204" pitchFamily="34" charset="0"/>
                <a:ea typeface="Inter Light" pitchFamily="34" charset="-122"/>
                <a:cs typeface="Arial" panose="020B0604020202020204" pitchFamily="34" charset="0"/>
              </a:rPr>
              <a:t>SecureVote Faculty — Week 7 Snapshot</a:t>
            </a:r>
            <a:endParaRPr lang="en-US" sz="1250" dirty="0">
              <a:latin typeface="Arial" panose="020B0604020202020204" pitchFamily="34" charset="0"/>
              <a:cs typeface="Arial" panose="020B0604020202020204" pitchFamily="34" charset="0"/>
            </a:endParaRPr>
          </a:p>
        </p:txBody>
      </p:sp>
      <p:sp>
        <p:nvSpPr>
          <p:cNvPr id="5" name="Shape 2"/>
          <p:cNvSpPr/>
          <p:nvPr/>
        </p:nvSpPr>
        <p:spPr>
          <a:xfrm>
            <a:off x="571500" y="1503034"/>
            <a:ext cx="1939779" cy="275034"/>
          </a:xfrm>
          <a:prstGeom prst="rect">
            <a:avLst/>
          </a:prstGeom>
          <a:solidFill>
            <a:srgbClr val="F8F9FA"/>
          </a:solidFill>
          <a:ln/>
        </p:spPr>
      </p:sp>
      <p:sp>
        <p:nvSpPr>
          <p:cNvPr id="6" name="Shape 3"/>
          <p:cNvSpPr/>
          <p:nvPr/>
        </p:nvSpPr>
        <p:spPr>
          <a:xfrm>
            <a:off x="571500" y="1770924"/>
            <a:ext cx="1939779" cy="7144"/>
          </a:xfrm>
          <a:prstGeom prst="rect">
            <a:avLst/>
          </a:prstGeom>
          <a:solidFill>
            <a:srgbClr val="E2E8F0"/>
          </a:solidFill>
          <a:ln/>
        </p:spPr>
      </p:sp>
      <p:sp>
        <p:nvSpPr>
          <p:cNvPr id="7" name="Text 4"/>
          <p:cNvSpPr/>
          <p:nvPr/>
        </p:nvSpPr>
        <p:spPr>
          <a:xfrm>
            <a:off x="571500" y="1500834"/>
            <a:ext cx="1939779" cy="279435"/>
          </a:xfrm>
          <a:prstGeom prst="rect">
            <a:avLst/>
          </a:prstGeom>
          <a:noFill/>
          <a:ln/>
        </p:spPr>
        <p:txBody>
          <a:bodyPr wrap="squar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TASK</a:t>
            </a:r>
            <a:endParaRPr lang="en-US" sz="700" dirty="0">
              <a:latin typeface="Arial" panose="020B0604020202020204" pitchFamily="34" charset="0"/>
              <a:cs typeface="Arial" panose="020B0604020202020204" pitchFamily="34" charset="0"/>
            </a:endParaRPr>
          </a:p>
        </p:txBody>
      </p:sp>
      <p:sp>
        <p:nvSpPr>
          <p:cNvPr id="8" name="Shape 5"/>
          <p:cNvSpPr/>
          <p:nvPr/>
        </p:nvSpPr>
        <p:spPr>
          <a:xfrm>
            <a:off x="2511279" y="1503034"/>
            <a:ext cx="794045" cy="275034"/>
          </a:xfrm>
          <a:prstGeom prst="rect">
            <a:avLst/>
          </a:prstGeom>
          <a:solidFill>
            <a:srgbClr val="F8F9FA"/>
          </a:solidFill>
          <a:ln/>
        </p:spPr>
      </p:sp>
      <p:sp>
        <p:nvSpPr>
          <p:cNvPr id="9" name="Shape 6"/>
          <p:cNvSpPr/>
          <p:nvPr/>
        </p:nvSpPr>
        <p:spPr>
          <a:xfrm>
            <a:off x="2511279" y="1770924"/>
            <a:ext cx="794045" cy="7144"/>
          </a:xfrm>
          <a:prstGeom prst="rect">
            <a:avLst/>
          </a:prstGeom>
          <a:solidFill>
            <a:srgbClr val="E2E8F0"/>
          </a:solidFill>
          <a:ln/>
        </p:spPr>
      </p:sp>
      <p:sp>
        <p:nvSpPr>
          <p:cNvPr id="10" name="Text 7"/>
          <p:cNvSpPr/>
          <p:nvPr/>
        </p:nvSpPr>
        <p:spPr>
          <a:xfrm>
            <a:off x="2511279" y="1500834"/>
            <a:ext cx="687111" cy="279435"/>
          </a:xfrm>
          <a:prstGeom prst="rect">
            <a:avLst/>
          </a:prstGeom>
          <a:noFill/>
          <a:ln/>
        </p:spPr>
        <p:txBody>
          <a:bodyPr wrap="non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OWNER</a:t>
            </a:r>
            <a:endParaRPr lang="en-US" sz="700" dirty="0">
              <a:latin typeface="Arial" panose="020B0604020202020204" pitchFamily="34" charset="0"/>
              <a:cs typeface="Arial" panose="020B0604020202020204" pitchFamily="34" charset="0"/>
            </a:endParaRPr>
          </a:p>
        </p:txBody>
      </p:sp>
      <p:sp>
        <p:nvSpPr>
          <p:cNvPr id="11" name="Shape 8"/>
          <p:cNvSpPr/>
          <p:nvPr/>
        </p:nvSpPr>
        <p:spPr>
          <a:xfrm>
            <a:off x="3305324" y="1503034"/>
            <a:ext cx="1176514" cy="275034"/>
          </a:xfrm>
          <a:prstGeom prst="rect">
            <a:avLst/>
          </a:prstGeom>
          <a:solidFill>
            <a:srgbClr val="F8F9FA"/>
          </a:solidFill>
          <a:ln/>
        </p:spPr>
      </p:sp>
      <p:sp>
        <p:nvSpPr>
          <p:cNvPr id="12" name="Shape 9"/>
          <p:cNvSpPr/>
          <p:nvPr/>
        </p:nvSpPr>
        <p:spPr>
          <a:xfrm>
            <a:off x="3305324" y="1770924"/>
            <a:ext cx="1176514" cy="7144"/>
          </a:xfrm>
          <a:prstGeom prst="rect">
            <a:avLst/>
          </a:prstGeom>
          <a:solidFill>
            <a:srgbClr val="E2E8F0"/>
          </a:solidFill>
          <a:ln/>
        </p:spPr>
      </p:sp>
      <p:sp>
        <p:nvSpPr>
          <p:cNvPr id="13" name="Text 10"/>
          <p:cNvSpPr/>
          <p:nvPr/>
        </p:nvSpPr>
        <p:spPr>
          <a:xfrm>
            <a:off x="3305324" y="1500834"/>
            <a:ext cx="978025" cy="279435"/>
          </a:xfrm>
          <a:prstGeom prst="rect">
            <a:avLst/>
          </a:prstGeom>
          <a:noFill/>
          <a:ln/>
        </p:spPr>
        <p:txBody>
          <a:bodyPr wrap="non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PLANNED END</a:t>
            </a:r>
            <a:endParaRPr lang="en-US" sz="700" dirty="0">
              <a:latin typeface="Arial" panose="020B0604020202020204" pitchFamily="34" charset="0"/>
              <a:cs typeface="Arial" panose="020B0604020202020204" pitchFamily="34" charset="0"/>
            </a:endParaRPr>
          </a:p>
        </p:txBody>
      </p:sp>
      <p:sp>
        <p:nvSpPr>
          <p:cNvPr id="14" name="Shape 11"/>
          <p:cNvSpPr/>
          <p:nvPr/>
        </p:nvSpPr>
        <p:spPr>
          <a:xfrm>
            <a:off x="4481838" y="1503034"/>
            <a:ext cx="1187621" cy="275034"/>
          </a:xfrm>
          <a:prstGeom prst="rect">
            <a:avLst/>
          </a:prstGeom>
          <a:solidFill>
            <a:srgbClr val="F8F9FA"/>
          </a:solidFill>
          <a:ln/>
        </p:spPr>
      </p:sp>
      <p:sp>
        <p:nvSpPr>
          <p:cNvPr id="15" name="Shape 12"/>
          <p:cNvSpPr/>
          <p:nvPr/>
        </p:nvSpPr>
        <p:spPr>
          <a:xfrm>
            <a:off x="4481838" y="1770924"/>
            <a:ext cx="1187621" cy="7144"/>
          </a:xfrm>
          <a:prstGeom prst="rect">
            <a:avLst/>
          </a:prstGeom>
          <a:solidFill>
            <a:srgbClr val="E2E8F0"/>
          </a:solidFill>
          <a:ln/>
        </p:spPr>
      </p:sp>
      <p:sp>
        <p:nvSpPr>
          <p:cNvPr id="16" name="Text 13"/>
          <p:cNvSpPr/>
          <p:nvPr/>
        </p:nvSpPr>
        <p:spPr>
          <a:xfrm>
            <a:off x="4481838" y="1500834"/>
            <a:ext cx="894540" cy="279435"/>
          </a:xfrm>
          <a:prstGeom prst="rect">
            <a:avLst/>
          </a:prstGeom>
          <a:noFill/>
          <a:ln/>
        </p:spPr>
        <p:txBody>
          <a:bodyPr wrap="non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ACTUAL/EST</a:t>
            </a:r>
            <a:endParaRPr lang="en-US" sz="700" dirty="0">
              <a:latin typeface="Arial" panose="020B0604020202020204" pitchFamily="34" charset="0"/>
              <a:cs typeface="Arial" panose="020B0604020202020204" pitchFamily="34" charset="0"/>
            </a:endParaRPr>
          </a:p>
        </p:txBody>
      </p:sp>
      <p:sp>
        <p:nvSpPr>
          <p:cNvPr id="17" name="Shape 14"/>
          <p:cNvSpPr/>
          <p:nvPr/>
        </p:nvSpPr>
        <p:spPr>
          <a:xfrm>
            <a:off x="5669459" y="1503034"/>
            <a:ext cx="1174198" cy="275034"/>
          </a:xfrm>
          <a:prstGeom prst="rect">
            <a:avLst/>
          </a:prstGeom>
          <a:solidFill>
            <a:srgbClr val="F8F9FA"/>
          </a:solidFill>
          <a:ln/>
        </p:spPr>
      </p:sp>
      <p:sp>
        <p:nvSpPr>
          <p:cNvPr id="18" name="Shape 15"/>
          <p:cNvSpPr/>
          <p:nvPr/>
        </p:nvSpPr>
        <p:spPr>
          <a:xfrm>
            <a:off x="5669459" y="1770924"/>
            <a:ext cx="1174198" cy="7144"/>
          </a:xfrm>
          <a:prstGeom prst="rect">
            <a:avLst/>
          </a:prstGeom>
          <a:solidFill>
            <a:srgbClr val="E2E8F0"/>
          </a:solidFill>
          <a:ln/>
        </p:spPr>
      </p:sp>
      <p:sp>
        <p:nvSpPr>
          <p:cNvPr id="19" name="Text 16"/>
          <p:cNvSpPr/>
          <p:nvPr/>
        </p:nvSpPr>
        <p:spPr>
          <a:xfrm>
            <a:off x="5669459" y="1500834"/>
            <a:ext cx="695255" cy="279435"/>
          </a:xfrm>
          <a:prstGeom prst="rect">
            <a:avLst/>
          </a:prstGeom>
          <a:noFill/>
          <a:ln/>
        </p:spPr>
        <p:txBody>
          <a:bodyPr wrap="non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STATUS</a:t>
            </a:r>
            <a:endParaRPr lang="en-US" sz="700" dirty="0">
              <a:latin typeface="Arial" panose="020B0604020202020204" pitchFamily="34" charset="0"/>
              <a:cs typeface="Arial" panose="020B0604020202020204" pitchFamily="34" charset="0"/>
            </a:endParaRPr>
          </a:p>
        </p:txBody>
      </p:sp>
      <p:sp>
        <p:nvSpPr>
          <p:cNvPr id="20" name="Shape 17"/>
          <p:cNvSpPr/>
          <p:nvPr/>
        </p:nvSpPr>
        <p:spPr>
          <a:xfrm>
            <a:off x="6843657" y="1503034"/>
            <a:ext cx="860822" cy="275034"/>
          </a:xfrm>
          <a:prstGeom prst="rect">
            <a:avLst/>
          </a:prstGeom>
          <a:solidFill>
            <a:srgbClr val="F8F9FA"/>
          </a:solidFill>
          <a:ln/>
        </p:spPr>
      </p:sp>
      <p:sp>
        <p:nvSpPr>
          <p:cNvPr id="21" name="Shape 18"/>
          <p:cNvSpPr/>
          <p:nvPr/>
        </p:nvSpPr>
        <p:spPr>
          <a:xfrm>
            <a:off x="6843657" y="1770924"/>
            <a:ext cx="860822" cy="7144"/>
          </a:xfrm>
          <a:prstGeom prst="rect">
            <a:avLst/>
          </a:prstGeom>
          <a:solidFill>
            <a:srgbClr val="E2E8F0"/>
          </a:solidFill>
          <a:ln/>
        </p:spPr>
      </p:sp>
      <p:sp>
        <p:nvSpPr>
          <p:cNvPr id="22" name="Text 19"/>
          <p:cNvSpPr/>
          <p:nvPr/>
        </p:nvSpPr>
        <p:spPr>
          <a:xfrm>
            <a:off x="6843657" y="1500834"/>
            <a:ext cx="799706" cy="279435"/>
          </a:xfrm>
          <a:prstGeom prst="rect">
            <a:avLst/>
          </a:prstGeom>
          <a:noFill/>
          <a:ln/>
        </p:spPr>
        <p:txBody>
          <a:bodyPr wrap="non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VARIANCE</a:t>
            </a:r>
            <a:endParaRPr lang="en-US" sz="700" dirty="0">
              <a:latin typeface="Arial" panose="020B0604020202020204" pitchFamily="34" charset="0"/>
              <a:cs typeface="Arial" panose="020B0604020202020204" pitchFamily="34" charset="0"/>
            </a:endParaRPr>
          </a:p>
        </p:txBody>
      </p:sp>
      <p:sp>
        <p:nvSpPr>
          <p:cNvPr id="23" name="Shape 20"/>
          <p:cNvSpPr/>
          <p:nvPr/>
        </p:nvSpPr>
        <p:spPr>
          <a:xfrm>
            <a:off x="7704479" y="1503034"/>
            <a:ext cx="868021" cy="275034"/>
          </a:xfrm>
          <a:prstGeom prst="rect">
            <a:avLst/>
          </a:prstGeom>
          <a:solidFill>
            <a:srgbClr val="F8F9FA"/>
          </a:solidFill>
          <a:ln/>
        </p:spPr>
      </p:sp>
      <p:sp>
        <p:nvSpPr>
          <p:cNvPr id="24" name="Shape 21"/>
          <p:cNvSpPr/>
          <p:nvPr/>
        </p:nvSpPr>
        <p:spPr>
          <a:xfrm>
            <a:off x="7704479" y="1770924"/>
            <a:ext cx="868021" cy="7144"/>
          </a:xfrm>
          <a:prstGeom prst="rect">
            <a:avLst/>
          </a:prstGeom>
          <a:solidFill>
            <a:srgbClr val="E2E8F0"/>
          </a:solidFill>
          <a:ln/>
        </p:spPr>
      </p:sp>
      <p:sp>
        <p:nvSpPr>
          <p:cNvPr id="25" name="Text 22"/>
          <p:cNvSpPr/>
          <p:nvPr/>
        </p:nvSpPr>
        <p:spPr>
          <a:xfrm>
            <a:off x="7704479" y="1500834"/>
            <a:ext cx="801438" cy="279435"/>
          </a:xfrm>
          <a:prstGeom prst="rect">
            <a:avLst/>
          </a:prstGeom>
          <a:noFill/>
          <a:ln/>
        </p:spPr>
        <p:txBody>
          <a:bodyPr wrap="none" lIns="170053" tIns="170053" rIns="170053" bIns="0" rtlCol="0" anchor="ctr">
            <a:spAutoFit/>
          </a:bodyPr>
          <a:lstStyle/>
          <a:p>
            <a:pPr marL="0" indent="0" algn="l">
              <a:buNone/>
            </a:pPr>
            <a:r>
              <a:rPr lang="en-US" sz="700" kern="0" spc="1" dirty="0">
                <a:solidFill>
                  <a:srgbClr val="121A5D"/>
                </a:solidFill>
                <a:latin typeface="Arial" panose="020B0604020202020204" pitchFamily="34" charset="0"/>
                <a:ea typeface="Inter SemiBold" pitchFamily="34" charset="-122"/>
                <a:cs typeface="Arial" panose="020B0604020202020204" pitchFamily="34" charset="0"/>
              </a:rPr>
              <a:t>CRITICAL?</a:t>
            </a:r>
            <a:endParaRPr lang="en-US" sz="700" dirty="0">
              <a:latin typeface="Arial" panose="020B0604020202020204" pitchFamily="34" charset="0"/>
              <a:cs typeface="Arial" panose="020B0604020202020204" pitchFamily="34" charset="0"/>
            </a:endParaRPr>
          </a:p>
        </p:txBody>
      </p:sp>
      <p:sp>
        <p:nvSpPr>
          <p:cNvPr id="26" name="Text 23"/>
          <p:cNvSpPr/>
          <p:nvPr/>
        </p:nvSpPr>
        <p:spPr>
          <a:xfrm>
            <a:off x="714375" y="1903084"/>
            <a:ext cx="222818" cy="123111"/>
          </a:xfrm>
          <a:prstGeom prst="rect">
            <a:avLst/>
          </a:prstGeom>
          <a:noFill/>
          <a:ln/>
        </p:spPr>
        <p:txBody>
          <a:bodyPr wrap="none" lIns="0" tIns="0" rIns="0" bIns="0" rtlCol="0" anchor="t">
            <a:spAutoFit/>
          </a:bodyPr>
          <a:lstStyle/>
          <a:p>
            <a:pPr marL="0" indent="0" algn="l">
              <a:buNone/>
            </a:pPr>
            <a:r>
              <a:rPr lang="en-US" sz="800" dirty="0">
                <a:solidFill>
                  <a:srgbClr val="121A5D"/>
                </a:solidFill>
                <a:latin typeface="Arial" panose="020B0604020202020204" pitchFamily="34" charset="0"/>
                <a:ea typeface="Inter SemiBold" pitchFamily="34" charset="-122"/>
                <a:cs typeface="Arial" panose="020B0604020202020204" pitchFamily="34" charset="0"/>
              </a:rPr>
              <a:t>SF-6</a:t>
            </a:r>
            <a:endParaRPr lang="en-US" sz="800" dirty="0">
              <a:latin typeface="Arial" panose="020B0604020202020204" pitchFamily="34" charset="0"/>
              <a:cs typeface="Arial" panose="020B0604020202020204" pitchFamily="34" charset="0"/>
            </a:endParaRPr>
          </a:p>
        </p:txBody>
      </p:sp>
      <p:sp>
        <p:nvSpPr>
          <p:cNvPr id="27" name="Text 24"/>
          <p:cNvSpPr/>
          <p:nvPr/>
        </p:nvSpPr>
        <p:spPr>
          <a:xfrm>
            <a:off x="984052" y="1903084"/>
            <a:ext cx="681277" cy="130805"/>
          </a:xfrm>
          <a:prstGeom prst="rect">
            <a:avLst/>
          </a:prstGeom>
          <a:noFill/>
          <a:ln/>
        </p:spPr>
        <p:txBody>
          <a:bodyPr wrap="none" lIns="0" tIns="0" rIns="0" bIns="0" rtlCol="0" anchor="t">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Requirements</a:t>
            </a:r>
            <a:endParaRPr lang="en-US" sz="850" dirty="0">
              <a:latin typeface="Arial" panose="020B0604020202020204" pitchFamily="34" charset="0"/>
              <a:cs typeface="Arial" panose="020B0604020202020204" pitchFamily="34" charset="0"/>
            </a:endParaRPr>
          </a:p>
        </p:txBody>
      </p:sp>
      <p:sp>
        <p:nvSpPr>
          <p:cNvPr id="28" name="Text 25"/>
          <p:cNvSpPr/>
          <p:nvPr/>
        </p:nvSpPr>
        <p:spPr>
          <a:xfrm>
            <a:off x="2511279" y="1766667"/>
            <a:ext cx="494110"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VR</a:t>
            </a:r>
            <a:endParaRPr lang="en-US" sz="850" dirty="0">
              <a:latin typeface="Arial" panose="020B0604020202020204" pitchFamily="34" charset="0"/>
              <a:cs typeface="Arial" panose="020B0604020202020204" pitchFamily="34" charset="0"/>
            </a:endParaRPr>
          </a:p>
        </p:txBody>
      </p:sp>
      <p:sp>
        <p:nvSpPr>
          <p:cNvPr id="29" name="Text 26"/>
          <p:cNvSpPr/>
          <p:nvPr/>
        </p:nvSpPr>
        <p:spPr>
          <a:xfrm>
            <a:off x="3305324" y="1766667"/>
            <a:ext cx="702500"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May 29</a:t>
            </a:r>
            <a:endParaRPr lang="en-US" sz="850" dirty="0">
              <a:latin typeface="Arial" panose="020B0604020202020204" pitchFamily="34" charset="0"/>
              <a:cs typeface="Arial" panose="020B0604020202020204" pitchFamily="34" charset="0"/>
            </a:endParaRPr>
          </a:p>
        </p:txBody>
      </p:sp>
      <p:sp>
        <p:nvSpPr>
          <p:cNvPr id="30" name="Text 27"/>
          <p:cNvSpPr/>
          <p:nvPr/>
        </p:nvSpPr>
        <p:spPr>
          <a:xfrm>
            <a:off x="4481838" y="1766667"/>
            <a:ext cx="702500"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May 29</a:t>
            </a:r>
            <a:endParaRPr lang="en-US" sz="850" dirty="0">
              <a:latin typeface="Arial" panose="020B0604020202020204" pitchFamily="34" charset="0"/>
              <a:cs typeface="Arial" panose="020B0604020202020204" pitchFamily="34" charset="0"/>
            </a:endParaRPr>
          </a:p>
        </p:txBody>
      </p:sp>
      <p:sp>
        <p:nvSpPr>
          <p:cNvPr id="31" name="Text 28"/>
          <p:cNvSpPr/>
          <p:nvPr/>
        </p:nvSpPr>
        <p:spPr>
          <a:xfrm>
            <a:off x="5669459" y="1766667"/>
            <a:ext cx="604717" cy="285335"/>
          </a:xfrm>
          <a:prstGeom prst="rect">
            <a:avLst/>
          </a:prstGeom>
          <a:noFill/>
          <a:ln/>
        </p:spPr>
        <p:txBody>
          <a:bodyPr wrap="none" lIns="170053" tIns="153035" rIns="170053" bIns="0" rtlCol="0" anchor="ctr">
            <a:spAutoFit/>
          </a:bodyPr>
          <a:lstStyle/>
          <a:p>
            <a:pPr marL="0" indent="0" algn="l">
              <a:buNone/>
            </a:pPr>
            <a:r>
              <a:rPr lang="en-US" sz="850" dirty="0">
                <a:solidFill>
                  <a:srgbClr val="A0AEC0"/>
                </a:solidFill>
                <a:latin typeface="Arial" panose="020B0604020202020204" pitchFamily="34" charset="0"/>
                <a:ea typeface="Inter Light" pitchFamily="34" charset="-122"/>
                <a:cs typeface="Arial" panose="020B0604020202020204" pitchFamily="34" charset="0"/>
              </a:rPr>
              <a:t>Done</a:t>
            </a:r>
            <a:endParaRPr lang="en-US" sz="850" dirty="0">
              <a:latin typeface="Arial" panose="020B0604020202020204" pitchFamily="34" charset="0"/>
              <a:cs typeface="Arial" panose="020B0604020202020204" pitchFamily="34" charset="0"/>
            </a:endParaRPr>
          </a:p>
        </p:txBody>
      </p:sp>
      <p:sp>
        <p:nvSpPr>
          <p:cNvPr id="32" name="Text 29"/>
          <p:cNvSpPr/>
          <p:nvPr/>
        </p:nvSpPr>
        <p:spPr>
          <a:xfrm>
            <a:off x="6843657" y="1766667"/>
            <a:ext cx="404341"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0</a:t>
            </a:r>
            <a:endParaRPr lang="en-US" sz="850" dirty="0">
              <a:latin typeface="Arial" panose="020B0604020202020204" pitchFamily="34" charset="0"/>
              <a:cs typeface="Arial" panose="020B0604020202020204" pitchFamily="34" charset="0"/>
            </a:endParaRPr>
          </a:p>
        </p:txBody>
      </p:sp>
      <p:sp>
        <p:nvSpPr>
          <p:cNvPr id="33" name="Text 30"/>
          <p:cNvSpPr/>
          <p:nvPr/>
        </p:nvSpPr>
        <p:spPr>
          <a:xfrm>
            <a:off x="7704479" y="1766667"/>
            <a:ext cx="482889"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No</a:t>
            </a:r>
            <a:endParaRPr lang="en-US" sz="850" dirty="0">
              <a:latin typeface="Arial" panose="020B0604020202020204" pitchFamily="34" charset="0"/>
              <a:cs typeface="Arial" panose="020B0604020202020204" pitchFamily="34" charset="0"/>
            </a:endParaRPr>
          </a:p>
        </p:txBody>
      </p:sp>
      <p:sp>
        <p:nvSpPr>
          <p:cNvPr id="34" name="Text 31"/>
          <p:cNvSpPr/>
          <p:nvPr/>
        </p:nvSpPr>
        <p:spPr>
          <a:xfrm>
            <a:off x="714375" y="2176332"/>
            <a:ext cx="222818" cy="123111"/>
          </a:xfrm>
          <a:prstGeom prst="rect">
            <a:avLst/>
          </a:prstGeom>
          <a:noFill/>
          <a:ln/>
        </p:spPr>
        <p:txBody>
          <a:bodyPr wrap="none" lIns="0" tIns="0" rIns="0" bIns="0" rtlCol="0" anchor="t">
            <a:spAutoFit/>
          </a:bodyPr>
          <a:lstStyle/>
          <a:p>
            <a:pPr marL="0" indent="0" algn="l">
              <a:buNone/>
            </a:pPr>
            <a:r>
              <a:rPr lang="en-US" sz="800" dirty="0">
                <a:solidFill>
                  <a:srgbClr val="121A5D"/>
                </a:solidFill>
                <a:latin typeface="Arial" panose="020B0604020202020204" pitchFamily="34" charset="0"/>
                <a:ea typeface="Inter SemiBold" pitchFamily="34" charset="-122"/>
                <a:cs typeface="Arial" panose="020B0604020202020204" pitchFamily="34" charset="0"/>
              </a:rPr>
              <a:t>SF-7</a:t>
            </a:r>
            <a:endParaRPr lang="en-US" sz="800" dirty="0">
              <a:latin typeface="Arial" panose="020B0604020202020204" pitchFamily="34" charset="0"/>
              <a:cs typeface="Arial" panose="020B0604020202020204" pitchFamily="34" charset="0"/>
            </a:endParaRPr>
          </a:p>
        </p:txBody>
      </p:sp>
      <p:sp>
        <p:nvSpPr>
          <p:cNvPr id="35" name="Text 32"/>
          <p:cNvSpPr/>
          <p:nvPr/>
        </p:nvSpPr>
        <p:spPr>
          <a:xfrm>
            <a:off x="973336" y="2176332"/>
            <a:ext cx="698909" cy="130805"/>
          </a:xfrm>
          <a:prstGeom prst="rect">
            <a:avLst/>
          </a:prstGeom>
          <a:noFill/>
          <a:ln/>
        </p:spPr>
        <p:txBody>
          <a:bodyPr wrap="none" lIns="0" tIns="0" rIns="0" bIns="0" rtlCol="0" anchor="t">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UI Wireframes</a:t>
            </a:r>
            <a:endParaRPr lang="en-US" sz="850" dirty="0">
              <a:latin typeface="Arial" panose="020B0604020202020204" pitchFamily="34" charset="0"/>
              <a:cs typeface="Arial" panose="020B0604020202020204" pitchFamily="34" charset="0"/>
            </a:endParaRPr>
          </a:p>
        </p:txBody>
      </p:sp>
      <p:sp>
        <p:nvSpPr>
          <p:cNvPr id="36" name="Text 33"/>
          <p:cNvSpPr/>
          <p:nvPr/>
        </p:nvSpPr>
        <p:spPr>
          <a:xfrm>
            <a:off x="2511279" y="2038130"/>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37" name="Text 34"/>
          <p:cNvSpPr/>
          <p:nvPr/>
        </p:nvSpPr>
        <p:spPr>
          <a:xfrm>
            <a:off x="3305324" y="2038130"/>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05</a:t>
            </a:r>
            <a:endParaRPr lang="en-US" sz="850" dirty="0">
              <a:latin typeface="Arial" panose="020B0604020202020204" pitchFamily="34" charset="0"/>
              <a:cs typeface="Arial" panose="020B0604020202020204" pitchFamily="34" charset="0"/>
            </a:endParaRPr>
          </a:p>
        </p:txBody>
      </p:sp>
      <p:sp>
        <p:nvSpPr>
          <p:cNvPr id="38" name="Text 35"/>
          <p:cNvSpPr/>
          <p:nvPr/>
        </p:nvSpPr>
        <p:spPr>
          <a:xfrm>
            <a:off x="4481838" y="2038130"/>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08</a:t>
            </a:r>
            <a:endParaRPr lang="en-US" sz="850" dirty="0">
              <a:latin typeface="Arial" panose="020B0604020202020204" pitchFamily="34" charset="0"/>
              <a:cs typeface="Arial" panose="020B0604020202020204" pitchFamily="34" charset="0"/>
            </a:endParaRPr>
          </a:p>
        </p:txBody>
      </p:sp>
      <p:sp>
        <p:nvSpPr>
          <p:cNvPr id="39" name="Text 36"/>
          <p:cNvSpPr/>
          <p:nvPr/>
        </p:nvSpPr>
        <p:spPr>
          <a:xfrm>
            <a:off x="5669459" y="2041977"/>
            <a:ext cx="870816" cy="277640"/>
          </a:xfrm>
          <a:prstGeom prst="rect">
            <a:avLst/>
          </a:prstGeom>
          <a:noFill/>
          <a:ln/>
        </p:spPr>
        <p:txBody>
          <a:bodyPr wrap="none" lIns="170053" tIns="153035" rIns="170053" bIns="0" rtlCol="0" anchor="ctr">
            <a:spAutoFit/>
          </a:bodyPr>
          <a:lstStyle/>
          <a:p>
            <a:pPr marL="0" indent="0" algn="l">
              <a:buNone/>
            </a:pPr>
            <a:r>
              <a:rPr lang="en-US" sz="800" dirty="0">
                <a:solidFill>
                  <a:srgbClr val="0B6AE9"/>
                </a:solidFill>
                <a:latin typeface="Arial" panose="020B0604020202020204" pitchFamily="34" charset="0"/>
                <a:ea typeface="Inter SemiBold" pitchFamily="34" charset="-122"/>
                <a:cs typeface="Arial" panose="020B0604020202020204" pitchFamily="34" charset="0"/>
              </a:rPr>
              <a:t>In Progress</a:t>
            </a:r>
            <a:endParaRPr lang="en-US" sz="800" dirty="0">
              <a:latin typeface="Arial" panose="020B0604020202020204" pitchFamily="34" charset="0"/>
              <a:cs typeface="Arial" panose="020B0604020202020204" pitchFamily="34" charset="0"/>
            </a:endParaRPr>
          </a:p>
        </p:txBody>
      </p:sp>
      <p:sp>
        <p:nvSpPr>
          <p:cNvPr id="40" name="Text 37"/>
          <p:cNvSpPr/>
          <p:nvPr/>
        </p:nvSpPr>
        <p:spPr>
          <a:xfrm>
            <a:off x="6843657" y="2041977"/>
            <a:ext cx="707310" cy="277640"/>
          </a:xfrm>
          <a:prstGeom prst="rect">
            <a:avLst/>
          </a:prstGeom>
          <a:noFill/>
          <a:ln/>
        </p:spPr>
        <p:txBody>
          <a:bodyPr wrap="none" lIns="170053" tIns="153035" rIns="170053" bIns="0" rtlCol="0" anchor="ctr">
            <a:spAutoFit/>
          </a:bodyPr>
          <a:lstStyle/>
          <a:p>
            <a:pPr marL="0" indent="0" algn="l">
              <a:buNone/>
            </a:pPr>
            <a:r>
              <a:rPr lang="en-US" sz="800" dirty="0">
                <a:solidFill>
                  <a:srgbClr val="E53E3E"/>
                </a:solidFill>
                <a:latin typeface="Arial" panose="020B0604020202020204" pitchFamily="34" charset="0"/>
                <a:ea typeface="Inter SemiBold" pitchFamily="34" charset="-122"/>
                <a:cs typeface="Arial" panose="020B0604020202020204" pitchFamily="34" charset="0"/>
              </a:rPr>
              <a:t>+3 days</a:t>
            </a:r>
            <a:endParaRPr lang="en-US" sz="800" dirty="0">
              <a:latin typeface="Arial" panose="020B0604020202020204" pitchFamily="34" charset="0"/>
              <a:cs typeface="Arial" panose="020B0604020202020204" pitchFamily="34" charset="0"/>
            </a:endParaRPr>
          </a:p>
        </p:txBody>
      </p:sp>
      <p:sp>
        <p:nvSpPr>
          <p:cNvPr id="41" name="Text 38"/>
          <p:cNvSpPr/>
          <p:nvPr/>
        </p:nvSpPr>
        <p:spPr>
          <a:xfrm>
            <a:off x="7704479" y="2049671"/>
            <a:ext cx="596702" cy="262251"/>
          </a:xfrm>
          <a:prstGeom prst="rect">
            <a:avLst/>
          </a:prstGeom>
          <a:noFill/>
          <a:ln/>
        </p:spPr>
        <p:txBody>
          <a:bodyPr wrap="none" lIns="170053" tIns="153035" rIns="170053" bIns="0" rtlCol="0" anchor="ctr">
            <a:spAutoFit/>
          </a:bodyPr>
          <a:lstStyle/>
          <a:p>
            <a:pPr marL="0" indent="0" algn="l">
              <a:buNone/>
            </a:pPr>
            <a:r>
              <a:rPr lang="en-US" sz="700" dirty="0">
                <a:solidFill>
                  <a:srgbClr val="0B6AE9"/>
                </a:solidFill>
                <a:latin typeface="Arial" panose="020B0604020202020204" pitchFamily="34" charset="0"/>
                <a:ea typeface="Inter SemiBold" pitchFamily="34" charset="-122"/>
                <a:cs typeface="Arial" panose="020B0604020202020204" pitchFamily="34" charset="0"/>
              </a:rPr>
              <a:t>★ Yes</a:t>
            </a:r>
            <a:endParaRPr lang="en-US" sz="700" dirty="0">
              <a:latin typeface="Arial" panose="020B0604020202020204" pitchFamily="34" charset="0"/>
              <a:cs typeface="Arial" panose="020B0604020202020204" pitchFamily="34" charset="0"/>
            </a:endParaRPr>
          </a:p>
        </p:txBody>
      </p:sp>
      <p:sp>
        <p:nvSpPr>
          <p:cNvPr id="42" name="Text 39"/>
          <p:cNvSpPr/>
          <p:nvPr/>
        </p:nvSpPr>
        <p:spPr>
          <a:xfrm>
            <a:off x="714375" y="2449581"/>
            <a:ext cx="222818" cy="123111"/>
          </a:xfrm>
          <a:prstGeom prst="rect">
            <a:avLst/>
          </a:prstGeom>
          <a:noFill/>
          <a:ln/>
        </p:spPr>
        <p:txBody>
          <a:bodyPr wrap="none" lIns="0" tIns="0" rIns="0" bIns="0" rtlCol="0" anchor="t">
            <a:spAutoFit/>
          </a:bodyPr>
          <a:lstStyle/>
          <a:p>
            <a:pPr marL="0" indent="0" algn="l">
              <a:buNone/>
            </a:pPr>
            <a:r>
              <a:rPr lang="en-US" sz="800" dirty="0">
                <a:solidFill>
                  <a:srgbClr val="121A5D"/>
                </a:solidFill>
                <a:latin typeface="Arial" panose="020B0604020202020204" pitchFamily="34" charset="0"/>
                <a:ea typeface="Inter SemiBold" pitchFamily="34" charset="-122"/>
                <a:cs typeface="Arial" panose="020B0604020202020204" pitchFamily="34" charset="0"/>
              </a:rPr>
              <a:t>SF-8</a:t>
            </a:r>
            <a:endParaRPr lang="en-US" sz="800" dirty="0">
              <a:latin typeface="Arial" panose="020B0604020202020204" pitchFamily="34" charset="0"/>
              <a:cs typeface="Arial" panose="020B0604020202020204" pitchFamily="34" charset="0"/>
            </a:endParaRPr>
          </a:p>
        </p:txBody>
      </p:sp>
      <p:sp>
        <p:nvSpPr>
          <p:cNvPr id="43" name="Text 40"/>
          <p:cNvSpPr/>
          <p:nvPr/>
        </p:nvSpPr>
        <p:spPr>
          <a:xfrm>
            <a:off x="984052" y="2449581"/>
            <a:ext cx="899285" cy="130805"/>
          </a:xfrm>
          <a:prstGeom prst="rect">
            <a:avLst/>
          </a:prstGeom>
          <a:noFill/>
          <a:ln/>
        </p:spPr>
        <p:txBody>
          <a:bodyPr wrap="none" lIns="0" tIns="0" rIns="0" bIns="0" rtlCol="0" anchor="t">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Database Schema</a:t>
            </a:r>
            <a:endParaRPr lang="en-US" sz="850" dirty="0">
              <a:latin typeface="Arial" panose="020B0604020202020204" pitchFamily="34" charset="0"/>
              <a:cs typeface="Arial" panose="020B0604020202020204" pitchFamily="34" charset="0"/>
            </a:endParaRPr>
          </a:p>
        </p:txBody>
      </p:sp>
      <p:sp>
        <p:nvSpPr>
          <p:cNvPr id="44" name="Text 41"/>
          <p:cNvSpPr/>
          <p:nvPr/>
        </p:nvSpPr>
        <p:spPr>
          <a:xfrm>
            <a:off x="2511279" y="2311378"/>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45" name="Text 42"/>
          <p:cNvSpPr/>
          <p:nvPr/>
        </p:nvSpPr>
        <p:spPr>
          <a:xfrm>
            <a:off x="3305324" y="2311378"/>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05</a:t>
            </a:r>
            <a:endParaRPr lang="en-US" sz="850" dirty="0">
              <a:latin typeface="Arial" panose="020B0604020202020204" pitchFamily="34" charset="0"/>
              <a:cs typeface="Arial" panose="020B0604020202020204" pitchFamily="34" charset="0"/>
            </a:endParaRPr>
          </a:p>
        </p:txBody>
      </p:sp>
      <p:sp>
        <p:nvSpPr>
          <p:cNvPr id="46" name="Text 43"/>
          <p:cNvSpPr/>
          <p:nvPr/>
        </p:nvSpPr>
        <p:spPr>
          <a:xfrm>
            <a:off x="4481838" y="2311378"/>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05</a:t>
            </a:r>
            <a:endParaRPr lang="en-US" sz="850" dirty="0">
              <a:latin typeface="Arial" panose="020B0604020202020204" pitchFamily="34" charset="0"/>
              <a:cs typeface="Arial" panose="020B0604020202020204" pitchFamily="34" charset="0"/>
            </a:endParaRPr>
          </a:p>
        </p:txBody>
      </p:sp>
      <p:sp>
        <p:nvSpPr>
          <p:cNvPr id="47" name="Text 44"/>
          <p:cNvSpPr/>
          <p:nvPr/>
        </p:nvSpPr>
        <p:spPr>
          <a:xfrm>
            <a:off x="5669459" y="2311378"/>
            <a:ext cx="64158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To Do</a:t>
            </a:r>
            <a:endParaRPr lang="en-US" sz="850" dirty="0">
              <a:latin typeface="Arial" panose="020B0604020202020204" pitchFamily="34" charset="0"/>
              <a:cs typeface="Arial" panose="020B0604020202020204" pitchFamily="34" charset="0"/>
            </a:endParaRPr>
          </a:p>
        </p:txBody>
      </p:sp>
      <p:sp>
        <p:nvSpPr>
          <p:cNvPr id="48" name="Text 45"/>
          <p:cNvSpPr/>
          <p:nvPr/>
        </p:nvSpPr>
        <p:spPr>
          <a:xfrm>
            <a:off x="6843657" y="2311378"/>
            <a:ext cx="404341"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0</a:t>
            </a:r>
            <a:endParaRPr lang="en-US" sz="850" dirty="0">
              <a:latin typeface="Arial" panose="020B0604020202020204" pitchFamily="34" charset="0"/>
              <a:cs typeface="Arial" panose="020B0604020202020204" pitchFamily="34" charset="0"/>
            </a:endParaRPr>
          </a:p>
        </p:txBody>
      </p:sp>
      <p:sp>
        <p:nvSpPr>
          <p:cNvPr id="49" name="Text 46"/>
          <p:cNvSpPr/>
          <p:nvPr/>
        </p:nvSpPr>
        <p:spPr>
          <a:xfrm>
            <a:off x="7704479" y="2322919"/>
            <a:ext cx="596702" cy="262251"/>
          </a:xfrm>
          <a:prstGeom prst="rect">
            <a:avLst/>
          </a:prstGeom>
          <a:noFill/>
          <a:ln/>
        </p:spPr>
        <p:txBody>
          <a:bodyPr wrap="none" lIns="170053" tIns="153035" rIns="170053" bIns="0" rtlCol="0" anchor="ctr">
            <a:spAutoFit/>
          </a:bodyPr>
          <a:lstStyle/>
          <a:p>
            <a:pPr marL="0" indent="0" algn="l">
              <a:buNone/>
            </a:pPr>
            <a:r>
              <a:rPr lang="en-US" sz="700" dirty="0">
                <a:solidFill>
                  <a:srgbClr val="0B6AE9"/>
                </a:solidFill>
                <a:latin typeface="Arial" panose="020B0604020202020204" pitchFamily="34" charset="0"/>
                <a:ea typeface="Inter SemiBold" pitchFamily="34" charset="-122"/>
                <a:cs typeface="Arial" panose="020B0604020202020204" pitchFamily="34" charset="0"/>
              </a:rPr>
              <a:t>★ Yes</a:t>
            </a:r>
            <a:endParaRPr lang="en-US" sz="700" dirty="0">
              <a:latin typeface="Arial" panose="020B0604020202020204" pitchFamily="34" charset="0"/>
              <a:cs typeface="Arial" panose="020B0604020202020204" pitchFamily="34" charset="0"/>
            </a:endParaRPr>
          </a:p>
        </p:txBody>
      </p:sp>
      <p:sp>
        <p:nvSpPr>
          <p:cNvPr id="50" name="Text 47"/>
          <p:cNvSpPr/>
          <p:nvPr/>
        </p:nvSpPr>
        <p:spPr>
          <a:xfrm>
            <a:off x="714375" y="2722829"/>
            <a:ext cx="280526" cy="123111"/>
          </a:xfrm>
          <a:prstGeom prst="rect">
            <a:avLst/>
          </a:prstGeom>
          <a:noFill/>
          <a:ln/>
        </p:spPr>
        <p:txBody>
          <a:bodyPr wrap="none" lIns="0" tIns="0" rIns="0" bIns="0" rtlCol="0" anchor="t">
            <a:spAutoFit/>
          </a:bodyPr>
          <a:lstStyle/>
          <a:p>
            <a:pPr marL="0" indent="0" algn="l">
              <a:buNone/>
            </a:pPr>
            <a:r>
              <a:rPr lang="en-US" sz="800" dirty="0">
                <a:solidFill>
                  <a:srgbClr val="121A5D"/>
                </a:solidFill>
                <a:latin typeface="Arial" panose="020B0604020202020204" pitchFamily="34" charset="0"/>
                <a:ea typeface="Inter SemiBold" pitchFamily="34" charset="-122"/>
                <a:cs typeface="Arial" panose="020B0604020202020204" pitchFamily="34" charset="0"/>
              </a:rPr>
              <a:t>SF-12</a:t>
            </a:r>
            <a:endParaRPr lang="en-US" sz="800" dirty="0">
              <a:latin typeface="Arial" panose="020B0604020202020204" pitchFamily="34" charset="0"/>
              <a:cs typeface="Arial" panose="020B0604020202020204" pitchFamily="34" charset="0"/>
            </a:endParaRPr>
          </a:p>
        </p:txBody>
      </p:sp>
      <p:sp>
        <p:nvSpPr>
          <p:cNvPr id="51" name="Text 48"/>
          <p:cNvSpPr/>
          <p:nvPr/>
        </p:nvSpPr>
        <p:spPr>
          <a:xfrm>
            <a:off x="1030486" y="2722829"/>
            <a:ext cx="629981" cy="130805"/>
          </a:xfrm>
          <a:prstGeom prst="rect">
            <a:avLst/>
          </a:prstGeom>
          <a:noFill/>
          <a:ln/>
        </p:spPr>
        <p:txBody>
          <a:bodyPr wrap="none" lIns="0" tIns="0" rIns="0" bIns="0" rtlCol="0" anchor="t">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Backend/API</a:t>
            </a:r>
            <a:endParaRPr lang="en-US" sz="850" dirty="0">
              <a:latin typeface="Arial" panose="020B0604020202020204" pitchFamily="34" charset="0"/>
              <a:cs typeface="Arial" panose="020B0604020202020204" pitchFamily="34" charset="0"/>
            </a:endParaRPr>
          </a:p>
        </p:txBody>
      </p:sp>
      <p:sp>
        <p:nvSpPr>
          <p:cNvPr id="52" name="Text 49"/>
          <p:cNvSpPr/>
          <p:nvPr/>
        </p:nvSpPr>
        <p:spPr>
          <a:xfrm>
            <a:off x="2511279" y="2584627"/>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53" name="Text 50"/>
          <p:cNvSpPr/>
          <p:nvPr/>
        </p:nvSpPr>
        <p:spPr>
          <a:xfrm>
            <a:off x="3305324" y="2584627"/>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19</a:t>
            </a:r>
            <a:endParaRPr lang="en-US" sz="850" dirty="0">
              <a:latin typeface="Arial" panose="020B0604020202020204" pitchFamily="34" charset="0"/>
              <a:cs typeface="Arial" panose="020B0604020202020204" pitchFamily="34" charset="0"/>
            </a:endParaRPr>
          </a:p>
        </p:txBody>
      </p:sp>
      <p:sp>
        <p:nvSpPr>
          <p:cNvPr id="54" name="Text 51"/>
          <p:cNvSpPr/>
          <p:nvPr/>
        </p:nvSpPr>
        <p:spPr>
          <a:xfrm>
            <a:off x="4481838" y="2584627"/>
            <a:ext cx="56143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TBD</a:t>
            </a:r>
            <a:endParaRPr lang="en-US" sz="850" dirty="0">
              <a:latin typeface="Arial" panose="020B0604020202020204" pitchFamily="34" charset="0"/>
              <a:cs typeface="Arial" panose="020B0604020202020204" pitchFamily="34" charset="0"/>
            </a:endParaRPr>
          </a:p>
        </p:txBody>
      </p:sp>
      <p:sp>
        <p:nvSpPr>
          <p:cNvPr id="55" name="Text 52"/>
          <p:cNvSpPr/>
          <p:nvPr/>
        </p:nvSpPr>
        <p:spPr>
          <a:xfrm>
            <a:off x="5669459" y="2584627"/>
            <a:ext cx="64158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To Do</a:t>
            </a:r>
            <a:endParaRPr lang="en-US" sz="850" dirty="0">
              <a:latin typeface="Arial" panose="020B0604020202020204" pitchFamily="34" charset="0"/>
              <a:cs typeface="Arial" panose="020B0604020202020204" pitchFamily="34" charset="0"/>
            </a:endParaRPr>
          </a:p>
        </p:txBody>
      </p:sp>
      <p:sp>
        <p:nvSpPr>
          <p:cNvPr id="56" name="Text 53"/>
          <p:cNvSpPr/>
          <p:nvPr/>
        </p:nvSpPr>
        <p:spPr>
          <a:xfrm>
            <a:off x="6843657" y="2584627"/>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57" name="Text 54"/>
          <p:cNvSpPr/>
          <p:nvPr/>
        </p:nvSpPr>
        <p:spPr>
          <a:xfrm>
            <a:off x="7704479" y="2584627"/>
            <a:ext cx="79387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No (float)</a:t>
            </a:r>
            <a:endParaRPr lang="en-US" sz="850" dirty="0">
              <a:latin typeface="Arial" panose="020B0604020202020204" pitchFamily="34" charset="0"/>
              <a:cs typeface="Arial" panose="020B0604020202020204" pitchFamily="34" charset="0"/>
            </a:endParaRPr>
          </a:p>
        </p:txBody>
      </p:sp>
      <p:sp>
        <p:nvSpPr>
          <p:cNvPr id="58" name="Text 55"/>
          <p:cNvSpPr/>
          <p:nvPr/>
        </p:nvSpPr>
        <p:spPr>
          <a:xfrm>
            <a:off x="714375" y="2996078"/>
            <a:ext cx="280526" cy="123111"/>
          </a:xfrm>
          <a:prstGeom prst="rect">
            <a:avLst/>
          </a:prstGeom>
          <a:noFill/>
          <a:ln/>
        </p:spPr>
        <p:txBody>
          <a:bodyPr wrap="none" lIns="0" tIns="0" rIns="0" bIns="0" rtlCol="0" anchor="t">
            <a:spAutoFit/>
          </a:bodyPr>
          <a:lstStyle/>
          <a:p>
            <a:pPr marL="0" indent="0" algn="l">
              <a:buNone/>
            </a:pPr>
            <a:r>
              <a:rPr lang="en-US" sz="800" dirty="0">
                <a:solidFill>
                  <a:srgbClr val="121A5D"/>
                </a:solidFill>
                <a:latin typeface="Arial" panose="020B0604020202020204" pitchFamily="34" charset="0"/>
                <a:ea typeface="Inter SemiBold" pitchFamily="34" charset="-122"/>
                <a:cs typeface="Arial" panose="020B0604020202020204" pitchFamily="34" charset="0"/>
              </a:rPr>
              <a:t>SF-10</a:t>
            </a:r>
            <a:endParaRPr lang="en-US" sz="800" dirty="0">
              <a:latin typeface="Arial" panose="020B0604020202020204" pitchFamily="34" charset="0"/>
              <a:cs typeface="Arial" panose="020B0604020202020204" pitchFamily="34" charset="0"/>
            </a:endParaRPr>
          </a:p>
        </p:txBody>
      </p:sp>
      <p:sp>
        <p:nvSpPr>
          <p:cNvPr id="59" name="Text 56"/>
          <p:cNvSpPr/>
          <p:nvPr/>
        </p:nvSpPr>
        <p:spPr>
          <a:xfrm>
            <a:off x="1034058" y="2996078"/>
            <a:ext cx="660437" cy="130805"/>
          </a:xfrm>
          <a:prstGeom prst="rect">
            <a:avLst/>
          </a:prstGeom>
          <a:noFill/>
          <a:ln/>
        </p:spPr>
        <p:txBody>
          <a:bodyPr wrap="none" lIns="0" tIns="0" rIns="0" bIns="0" rtlCol="0" anchor="t">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UI/UX Design</a:t>
            </a:r>
            <a:endParaRPr lang="en-US" sz="850" dirty="0">
              <a:latin typeface="Arial" panose="020B0604020202020204" pitchFamily="34" charset="0"/>
              <a:cs typeface="Arial" panose="020B0604020202020204" pitchFamily="34" charset="0"/>
            </a:endParaRPr>
          </a:p>
        </p:txBody>
      </p:sp>
      <p:sp>
        <p:nvSpPr>
          <p:cNvPr id="60" name="Text 57"/>
          <p:cNvSpPr/>
          <p:nvPr/>
        </p:nvSpPr>
        <p:spPr>
          <a:xfrm>
            <a:off x="2511279" y="2857875"/>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61" name="Text 58"/>
          <p:cNvSpPr/>
          <p:nvPr/>
        </p:nvSpPr>
        <p:spPr>
          <a:xfrm>
            <a:off x="3305324" y="2857875"/>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29</a:t>
            </a:r>
            <a:endParaRPr lang="en-US" sz="850" dirty="0">
              <a:latin typeface="Arial" panose="020B0604020202020204" pitchFamily="34" charset="0"/>
              <a:cs typeface="Arial" panose="020B0604020202020204" pitchFamily="34" charset="0"/>
            </a:endParaRPr>
          </a:p>
        </p:txBody>
      </p:sp>
      <p:sp>
        <p:nvSpPr>
          <p:cNvPr id="62" name="Text 59"/>
          <p:cNvSpPr/>
          <p:nvPr/>
        </p:nvSpPr>
        <p:spPr>
          <a:xfrm>
            <a:off x="4481838" y="2857875"/>
            <a:ext cx="56143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TBD</a:t>
            </a:r>
            <a:endParaRPr lang="en-US" sz="850" dirty="0">
              <a:latin typeface="Arial" panose="020B0604020202020204" pitchFamily="34" charset="0"/>
              <a:cs typeface="Arial" panose="020B0604020202020204" pitchFamily="34" charset="0"/>
            </a:endParaRPr>
          </a:p>
        </p:txBody>
      </p:sp>
      <p:sp>
        <p:nvSpPr>
          <p:cNvPr id="63" name="Text 60"/>
          <p:cNvSpPr/>
          <p:nvPr/>
        </p:nvSpPr>
        <p:spPr>
          <a:xfrm>
            <a:off x="5669459" y="2857875"/>
            <a:ext cx="64158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To Do</a:t>
            </a:r>
            <a:endParaRPr lang="en-US" sz="850" dirty="0">
              <a:latin typeface="Arial" panose="020B0604020202020204" pitchFamily="34" charset="0"/>
              <a:cs typeface="Arial" panose="020B0604020202020204" pitchFamily="34" charset="0"/>
            </a:endParaRPr>
          </a:p>
        </p:txBody>
      </p:sp>
      <p:sp>
        <p:nvSpPr>
          <p:cNvPr id="64" name="Text 61"/>
          <p:cNvSpPr/>
          <p:nvPr/>
        </p:nvSpPr>
        <p:spPr>
          <a:xfrm>
            <a:off x="6843657" y="2857875"/>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65" name="Text 62"/>
          <p:cNvSpPr/>
          <p:nvPr/>
        </p:nvSpPr>
        <p:spPr>
          <a:xfrm>
            <a:off x="7704479" y="2869416"/>
            <a:ext cx="596702" cy="262251"/>
          </a:xfrm>
          <a:prstGeom prst="rect">
            <a:avLst/>
          </a:prstGeom>
          <a:noFill/>
          <a:ln/>
        </p:spPr>
        <p:txBody>
          <a:bodyPr wrap="none" lIns="170053" tIns="153035" rIns="170053" bIns="0" rtlCol="0" anchor="ctr">
            <a:spAutoFit/>
          </a:bodyPr>
          <a:lstStyle/>
          <a:p>
            <a:pPr marL="0" indent="0" algn="l">
              <a:buNone/>
            </a:pPr>
            <a:r>
              <a:rPr lang="en-US" sz="700" dirty="0">
                <a:solidFill>
                  <a:srgbClr val="0B6AE9"/>
                </a:solidFill>
                <a:latin typeface="Arial" panose="020B0604020202020204" pitchFamily="34" charset="0"/>
                <a:ea typeface="Inter SemiBold" pitchFamily="34" charset="-122"/>
                <a:cs typeface="Arial" panose="020B0604020202020204" pitchFamily="34" charset="0"/>
              </a:rPr>
              <a:t>★ Yes</a:t>
            </a:r>
            <a:endParaRPr lang="en-US" sz="700" dirty="0">
              <a:latin typeface="Arial" panose="020B0604020202020204" pitchFamily="34" charset="0"/>
              <a:cs typeface="Arial" panose="020B0604020202020204" pitchFamily="34" charset="0"/>
            </a:endParaRPr>
          </a:p>
        </p:txBody>
      </p:sp>
      <p:sp>
        <p:nvSpPr>
          <p:cNvPr id="66" name="Text 63"/>
          <p:cNvSpPr/>
          <p:nvPr/>
        </p:nvSpPr>
        <p:spPr>
          <a:xfrm>
            <a:off x="714375" y="3269326"/>
            <a:ext cx="280526" cy="123111"/>
          </a:xfrm>
          <a:prstGeom prst="rect">
            <a:avLst/>
          </a:prstGeom>
          <a:noFill/>
          <a:ln/>
        </p:spPr>
        <p:txBody>
          <a:bodyPr wrap="none" lIns="0" tIns="0" rIns="0" bIns="0" rtlCol="0" anchor="t">
            <a:spAutoFit/>
          </a:bodyPr>
          <a:lstStyle/>
          <a:p>
            <a:pPr marL="0" indent="0" algn="l">
              <a:buNone/>
            </a:pPr>
            <a:r>
              <a:rPr lang="en-US" sz="800" dirty="0">
                <a:solidFill>
                  <a:srgbClr val="121A5D"/>
                </a:solidFill>
                <a:latin typeface="Arial" panose="020B0604020202020204" pitchFamily="34" charset="0"/>
                <a:ea typeface="Inter SemiBold" pitchFamily="34" charset="-122"/>
                <a:cs typeface="Arial" panose="020B0604020202020204" pitchFamily="34" charset="0"/>
              </a:rPr>
              <a:t>SF-11</a:t>
            </a:r>
            <a:endParaRPr lang="en-US" sz="800" dirty="0">
              <a:latin typeface="Arial" panose="020B0604020202020204" pitchFamily="34" charset="0"/>
              <a:cs typeface="Arial" panose="020B0604020202020204" pitchFamily="34" charset="0"/>
            </a:endParaRPr>
          </a:p>
        </p:txBody>
      </p:sp>
      <p:sp>
        <p:nvSpPr>
          <p:cNvPr id="67" name="Text 64"/>
          <p:cNvSpPr/>
          <p:nvPr/>
        </p:nvSpPr>
        <p:spPr>
          <a:xfrm>
            <a:off x="1007269" y="3269326"/>
            <a:ext cx="711733" cy="130805"/>
          </a:xfrm>
          <a:prstGeom prst="rect">
            <a:avLst/>
          </a:prstGeom>
          <a:noFill/>
          <a:ln/>
        </p:spPr>
        <p:txBody>
          <a:bodyPr wrap="none" lIns="0" tIns="0" rIns="0" bIns="0" rtlCol="0" anchor="t">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Build Frontend</a:t>
            </a:r>
            <a:endParaRPr lang="en-US" sz="850" dirty="0">
              <a:latin typeface="Arial" panose="020B0604020202020204" pitchFamily="34" charset="0"/>
              <a:cs typeface="Arial" panose="020B0604020202020204" pitchFamily="34" charset="0"/>
            </a:endParaRPr>
          </a:p>
        </p:txBody>
      </p:sp>
      <p:sp>
        <p:nvSpPr>
          <p:cNvPr id="68" name="Text 65"/>
          <p:cNvSpPr/>
          <p:nvPr/>
        </p:nvSpPr>
        <p:spPr>
          <a:xfrm>
            <a:off x="2511279" y="3131124"/>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69" name="Text 66"/>
          <p:cNvSpPr/>
          <p:nvPr/>
        </p:nvSpPr>
        <p:spPr>
          <a:xfrm>
            <a:off x="3305324" y="3131124"/>
            <a:ext cx="672043"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Jun 30</a:t>
            </a:r>
            <a:endParaRPr lang="en-US" sz="850" dirty="0">
              <a:latin typeface="Arial" panose="020B0604020202020204" pitchFamily="34" charset="0"/>
              <a:cs typeface="Arial" panose="020B0604020202020204" pitchFamily="34" charset="0"/>
            </a:endParaRPr>
          </a:p>
        </p:txBody>
      </p:sp>
      <p:sp>
        <p:nvSpPr>
          <p:cNvPr id="70" name="Text 67"/>
          <p:cNvSpPr/>
          <p:nvPr/>
        </p:nvSpPr>
        <p:spPr>
          <a:xfrm>
            <a:off x="4481838" y="3131124"/>
            <a:ext cx="56143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TBD</a:t>
            </a:r>
            <a:endParaRPr lang="en-US" sz="850" dirty="0">
              <a:latin typeface="Arial" panose="020B0604020202020204" pitchFamily="34" charset="0"/>
              <a:cs typeface="Arial" panose="020B0604020202020204" pitchFamily="34" charset="0"/>
            </a:endParaRPr>
          </a:p>
        </p:txBody>
      </p:sp>
      <p:sp>
        <p:nvSpPr>
          <p:cNvPr id="71" name="Text 68"/>
          <p:cNvSpPr/>
          <p:nvPr/>
        </p:nvSpPr>
        <p:spPr>
          <a:xfrm>
            <a:off x="5669459" y="3131124"/>
            <a:ext cx="641586"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To Do</a:t>
            </a:r>
            <a:endParaRPr lang="en-US" sz="850" dirty="0">
              <a:latin typeface="Arial" panose="020B0604020202020204" pitchFamily="34" charset="0"/>
              <a:cs typeface="Arial" panose="020B0604020202020204" pitchFamily="34" charset="0"/>
            </a:endParaRPr>
          </a:p>
        </p:txBody>
      </p:sp>
      <p:sp>
        <p:nvSpPr>
          <p:cNvPr id="72" name="Text 69"/>
          <p:cNvSpPr/>
          <p:nvPr/>
        </p:nvSpPr>
        <p:spPr>
          <a:xfrm>
            <a:off x="6843657" y="3131124"/>
            <a:ext cx="452432" cy="285335"/>
          </a:xfrm>
          <a:prstGeom prst="rect">
            <a:avLst/>
          </a:prstGeom>
          <a:noFill/>
          <a:ln/>
        </p:spPr>
        <p:txBody>
          <a:bodyPr wrap="none" lIns="170053" tIns="153035" rIns="170053" bIns="0" rtlCol="0" anchor="ctr">
            <a:spAutoFit/>
          </a:bodyPr>
          <a:lstStyle/>
          <a:p>
            <a:pPr marL="0" indent="0" algn="l">
              <a:buNone/>
            </a:pPr>
            <a:r>
              <a:rPr lang="en-US" sz="850" dirty="0">
                <a:solidFill>
                  <a:srgbClr val="121A5D"/>
                </a:solidFill>
                <a:latin typeface="Arial" panose="020B0604020202020204" pitchFamily="34" charset="0"/>
                <a:ea typeface="Inter Light" pitchFamily="34" charset="-122"/>
                <a:cs typeface="Arial" panose="020B0604020202020204" pitchFamily="34" charset="0"/>
              </a:rPr>
              <a:t>—</a:t>
            </a:r>
            <a:endParaRPr lang="en-US" sz="850" dirty="0">
              <a:latin typeface="Arial" panose="020B0604020202020204" pitchFamily="34" charset="0"/>
              <a:cs typeface="Arial" panose="020B0604020202020204" pitchFamily="34" charset="0"/>
            </a:endParaRPr>
          </a:p>
        </p:txBody>
      </p:sp>
      <p:sp>
        <p:nvSpPr>
          <p:cNvPr id="73" name="Text 70"/>
          <p:cNvSpPr/>
          <p:nvPr/>
        </p:nvSpPr>
        <p:spPr>
          <a:xfrm>
            <a:off x="7704479" y="3142665"/>
            <a:ext cx="596702" cy="262251"/>
          </a:xfrm>
          <a:prstGeom prst="rect">
            <a:avLst/>
          </a:prstGeom>
          <a:noFill/>
          <a:ln/>
        </p:spPr>
        <p:txBody>
          <a:bodyPr wrap="none" lIns="170053" tIns="153035" rIns="170053" bIns="0" rtlCol="0" anchor="ctr">
            <a:spAutoFit/>
          </a:bodyPr>
          <a:lstStyle/>
          <a:p>
            <a:pPr marL="0" indent="0" algn="l">
              <a:buNone/>
            </a:pPr>
            <a:r>
              <a:rPr lang="en-US" sz="700" dirty="0">
                <a:solidFill>
                  <a:srgbClr val="0B6AE9"/>
                </a:solidFill>
                <a:latin typeface="Arial" panose="020B0604020202020204" pitchFamily="34" charset="0"/>
                <a:ea typeface="Inter SemiBold" pitchFamily="34" charset="-122"/>
                <a:cs typeface="Arial" panose="020B0604020202020204" pitchFamily="34" charset="0"/>
              </a:rPr>
              <a:t>★ Yes</a:t>
            </a:r>
            <a:endParaRPr lang="en-US" sz="700" dirty="0">
              <a:latin typeface="Arial" panose="020B0604020202020204" pitchFamily="34" charset="0"/>
              <a:cs typeface="Arial" panose="020B0604020202020204" pitchFamily="34" charset="0"/>
            </a:endParaRPr>
          </a:p>
        </p:txBody>
      </p:sp>
      <p:sp>
        <p:nvSpPr>
          <p:cNvPr id="74" name="Text 71"/>
          <p:cNvSpPr/>
          <p:nvPr/>
        </p:nvSpPr>
        <p:spPr>
          <a:xfrm>
            <a:off x="728663" y="4736306"/>
            <a:ext cx="4427339" cy="115416"/>
          </a:xfrm>
          <a:prstGeom prst="rect">
            <a:avLst/>
          </a:prstGeom>
          <a:noFill/>
          <a:ln/>
        </p:spPr>
        <p:txBody>
          <a:bodyPr wrap="square" lIns="0" tIns="0" rIns="0" bIns="0" rtlCol="0" anchor="t">
            <a:spAutoFit/>
          </a:bodyPr>
          <a:lstStyle/>
          <a:p>
            <a:pPr marL="0" indent="0" algn="l">
              <a:buNone/>
            </a:pPr>
            <a:r>
              <a:rPr lang="en-US" sz="750" dirty="0">
                <a:solidFill>
                  <a:srgbClr val="4A5568"/>
                </a:solidFill>
                <a:latin typeface="Arial" panose="020B0604020202020204" pitchFamily="34" charset="0"/>
                <a:ea typeface="Inter Light" pitchFamily="34" charset="-122"/>
                <a:cs typeface="Arial" panose="020B0604020202020204" pitchFamily="34" charset="0"/>
              </a:rPr>
              <a:t>★ = On Critical Path (Zero Float) — Any delay in these tasks directly shifts the final launch date.</a:t>
            </a:r>
            <a:endParaRPr lang="en-US" sz="750" dirty="0">
              <a:latin typeface="Arial" panose="020B0604020202020204" pitchFamily="34" charset="0"/>
              <a:cs typeface="Arial" panose="020B0604020202020204" pitchFamily="34" charset="0"/>
            </a:endParaRPr>
          </a:p>
        </p:txBody>
      </p:sp>
      <p:sp>
        <p:nvSpPr>
          <p:cNvPr id="75" name="Text 72"/>
          <p:cNvSpPr/>
          <p:nvPr/>
        </p:nvSpPr>
        <p:spPr>
          <a:xfrm>
            <a:off x="7649170" y="4736306"/>
            <a:ext cx="940963" cy="115416"/>
          </a:xfrm>
          <a:prstGeom prst="rect">
            <a:avLst/>
          </a:prstGeom>
          <a:noFill/>
          <a:ln/>
        </p:spPr>
        <p:txBody>
          <a:bodyPr wrap="non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TRACKER / PAGE 11</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8F5135-11AB-4ED8-6596-5787956B7377}"/>
              </a:ext>
            </a:extLst>
          </p:cNvPr>
          <p:cNvPicPr>
            <a:picLocks noChangeAspect="1"/>
          </p:cNvPicPr>
          <p:nvPr/>
        </p:nvPicPr>
        <p:blipFill>
          <a:blip r:embed="rId2"/>
          <a:stretch>
            <a:fillRect/>
          </a:stretch>
        </p:blipFill>
        <p:spPr>
          <a:xfrm>
            <a:off x="0" y="1255"/>
            <a:ext cx="9144000" cy="5140990"/>
          </a:xfrm>
          <a:prstGeom prst="rect">
            <a:avLst/>
          </a:prstGeom>
        </p:spPr>
      </p:pic>
      <p:sp>
        <p:nvSpPr>
          <p:cNvPr id="4" name="Rectangle 3">
            <a:extLst>
              <a:ext uri="{FF2B5EF4-FFF2-40B4-BE49-F238E27FC236}">
                <a16:creationId xmlns:a16="http://schemas.microsoft.com/office/drawing/2014/main" id="{79E4A2A3-B545-AEF1-7E5A-01C54960BAFD}"/>
              </a:ext>
            </a:extLst>
          </p:cNvPr>
          <p:cNvSpPr/>
          <p:nvPr/>
        </p:nvSpPr>
        <p:spPr>
          <a:xfrm>
            <a:off x="6111551" y="1474237"/>
            <a:ext cx="1427584" cy="2230016"/>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7893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285875"/>
          </a:xfrm>
          <a:prstGeom prst="rect">
            <a:avLst/>
          </a:prstGeom>
          <a:solidFill>
            <a:srgbClr val="121A5D"/>
          </a:solidFill>
          <a:ln/>
        </p:spPr>
      </p:sp>
      <p:sp>
        <p:nvSpPr>
          <p:cNvPr id="4" name="Text 1"/>
          <p:cNvSpPr/>
          <p:nvPr/>
        </p:nvSpPr>
        <p:spPr>
          <a:xfrm>
            <a:off x="571500" y="428625"/>
            <a:ext cx="4413452" cy="406265"/>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FFFFFF"/>
                </a:solidFill>
                <a:latin typeface="Arial" panose="020B0604020202020204" pitchFamily="34" charset="0"/>
                <a:ea typeface="Cardo Bold" pitchFamily="34" charset="-122"/>
                <a:cs typeface="Arial" panose="020B0604020202020204" pitchFamily="34" charset="0"/>
              </a:rPr>
              <a:t>Weekly Status Update</a:t>
            </a:r>
            <a:endParaRPr lang="en-US" sz="3300" dirty="0">
              <a:latin typeface="Arial" panose="020B0604020202020204" pitchFamily="34" charset="0"/>
              <a:cs typeface="Arial" panose="020B0604020202020204" pitchFamily="34" charset="0"/>
            </a:endParaRPr>
          </a:p>
        </p:txBody>
      </p:sp>
      <p:sp>
        <p:nvSpPr>
          <p:cNvPr id="5" name="Shape 2"/>
          <p:cNvSpPr/>
          <p:nvPr/>
        </p:nvSpPr>
        <p:spPr>
          <a:xfrm>
            <a:off x="7429500" y="428625"/>
            <a:ext cx="1143000" cy="298252"/>
          </a:xfrm>
          <a:prstGeom prst="rect">
            <a:avLst/>
          </a:prstGeom>
          <a:solidFill>
            <a:srgbClr val="0B6AE9"/>
          </a:solidFill>
          <a:ln/>
        </p:spPr>
      </p:sp>
      <p:sp>
        <p:nvSpPr>
          <p:cNvPr id="6" name="Text 3"/>
          <p:cNvSpPr/>
          <p:nvPr/>
        </p:nvSpPr>
        <p:spPr>
          <a:xfrm>
            <a:off x="7429500" y="428625"/>
            <a:ext cx="1027717" cy="310341"/>
          </a:xfrm>
          <a:prstGeom prst="rect">
            <a:avLst/>
          </a:prstGeom>
          <a:noFill/>
          <a:ln/>
        </p:spPr>
        <p:txBody>
          <a:bodyPr wrap="none" lIns="212598" tIns="85090" rIns="212598" bIns="85090" rtlCol="0" anchor="t">
            <a:spAutoFit/>
          </a:bodyPr>
          <a:lstStyle/>
          <a:p>
            <a:pPr marL="0" indent="0" algn="l">
              <a:buNone/>
            </a:pPr>
            <a:r>
              <a:rPr lang="en-US" sz="900" kern="0" spc="2" dirty="0">
                <a:solidFill>
                  <a:srgbClr val="FFFFFF"/>
                </a:solidFill>
                <a:latin typeface="Arial" panose="020B0604020202020204" pitchFamily="34" charset="0"/>
                <a:ea typeface="Inter SemiBold" pitchFamily="34" charset="-122"/>
                <a:cs typeface="Arial" panose="020B0604020202020204" pitchFamily="34" charset="0"/>
              </a:rPr>
              <a:t>ON TRACK</a:t>
            </a:r>
            <a:endParaRPr lang="en-US" sz="900" dirty="0">
              <a:latin typeface="Arial" panose="020B0604020202020204" pitchFamily="34" charset="0"/>
              <a:cs typeface="Arial" panose="020B0604020202020204" pitchFamily="34" charset="0"/>
            </a:endParaRPr>
          </a:p>
        </p:txBody>
      </p:sp>
      <p:sp>
        <p:nvSpPr>
          <p:cNvPr id="7" name="Text 4"/>
          <p:cNvSpPr/>
          <p:nvPr/>
        </p:nvSpPr>
        <p:spPr>
          <a:xfrm>
            <a:off x="571500" y="1721644"/>
            <a:ext cx="3707606" cy="107722"/>
          </a:xfrm>
          <a:prstGeom prst="rect">
            <a:avLst/>
          </a:prstGeom>
          <a:noFill/>
          <a:ln/>
        </p:spPr>
        <p:txBody>
          <a:bodyPr wrap="square" lIns="0" tIns="0" rIns="0" bIns="0" rtlCol="0" anchor="t">
            <a:spAutoFit/>
          </a:bodyPr>
          <a:lstStyle/>
          <a:p>
            <a:pPr marL="0" indent="0" algn="l">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EXECUTIVE SUMMARY</a:t>
            </a:r>
            <a:endParaRPr lang="en-US" sz="700" dirty="0">
              <a:latin typeface="Arial" panose="020B0604020202020204" pitchFamily="34" charset="0"/>
              <a:cs typeface="Arial" panose="020B0604020202020204" pitchFamily="34" charset="0"/>
            </a:endParaRPr>
          </a:p>
        </p:txBody>
      </p:sp>
      <p:sp>
        <p:nvSpPr>
          <p:cNvPr id="8" name="Text 5"/>
          <p:cNvSpPr/>
          <p:nvPr/>
        </p:nvSpPr>
        <p:spPr>
          <a:xfrm>
            <a:off x="571500" y="1950244"/>
            <a:ext cx="3707606"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Week 7 Performance</a:t>
            </a:r>
            <a:endParaRPr lang="en-US" sz="1400" dirty="0">
              <a:latin typeface="Arial" panose="020B0604020202020204" pitchFamily="34" charset="0"/>
              <a:cs typeface="Arial" panose="020B0604020202020204" pitchFamily="34" charset="0"/>
            </a:endParaRPr>
          </a:p>
        </p:txBody>
      </p:sp>
      <p:sp>
        <p:nvSpPr>
          <p:cNvPr id="9" name="Text 6"/>
          <p:cNvSpPr/>
          <p:nvPr/>
        </p:nvSpPr>
        <p:spPr>
          <a:xfrm>
            <a:off x="571500" y="2328863"/>
            <a:ext cx="3707606" cy="54232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A5568"/>
                </a:solidFill>
                <a:latin typeface="Arial" panose="020B0604020202020204" pitchFamily="34" charset="0"/>
                <a:ea typeface="Inter Light" pitchFamily="34" charset="-122"/>
                <a:cs typeface="Arial" panose="020B0604020202020204" pitchFamily="34" charset="0"/>
              </a:rPr>
              <a:t>Core requirements and initial wireframes are </a:t>
            </a:r>
            <a:r>
              <a:rPr lang="en-US" sz="950" dirty="0">
                <a:solidFill>
                  <a:srgbClr val="121A5D"/>
                </a:solidFill>
                <a:latin typeface="Arial" panose="020B0604020202020204" pitchFamily="34" charset="0"/>
                <a:ea typeface="Inter" pitchFamily="34" charset="-122"/>
                <a:cs typeface="Arial" panose="020B0604020202020204" pitchFamily="34" charset="0"/>
              </a:rPr>
              <a:t>100% finalized</a:t>
            </a:r>
            <a:r>
              <a:rPr lang="en-US" sz="950" dirty="0">
                <a:solidFill>
                  <a:srgbClr val="4A5568"/>
                </a:solidFill>
                <a:latin typeface="Arial" panose="020B0604020202020204" pitchFamily="34" charset="0"/>
                <a:ea typeface="Inter Light" pitchFamily="34" charset="-122"/>
                <a:cs typeface="Arial" panose="020B0604020202020204" pitchFamily="34" charset="0"/>
              </a:rPr>
              <a:t>. The database schema is ready to commence on schedule, maintaining alignment with the original project baseline.</a:t>
            </a:r>
            <a:endParaRPr lang="en-US" sz="950" dirty="0">
              <a:latin typeface="Arial" panose="020B0604020202020204" pitchFamily="34" charset="0"/>
              <a:cs typeface="Arial" panose="020B0604020202020204" pitchFamily="34" charset="0"/>
            </a:endParaRPr>
          </a:p>
        </p:txBody>
      </p:sp>
      <p:sp>
        <p:nvSpPr>
          <p:cNvPr id="10" name="Text 7"/>
          <p:cNvSpPr/>
          <p:nvPr/>
        </p:nvSpPr>
        <p:spPr>
          <a:xfrm>
            <a:off x="4572000" y="1721644"/>
            <a:ext cx="3714750" cy="107722"/>
          </a:xfrm>
          <a:prstGeom prst="rect">
            <a:avLst/>
          </a:prstGeom>
          <a:noFill/>
          <a:ln/>
        </p:spPr>
        <p:txBody>
          <a:bodyPr wrap="square" lIns="0" tIns="0" rIns="0" bIns="0" rtlCol="0" anchor="t">
            <a:spAutoFit/>
          </a:bodyPr>
          <a:lstStyle/>
          <a:p>
            <a:pPr marL="0" indent="0" algn="l">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PROGRESS METRICS</a:t>
            </a:r>
            <a:endParaRPr lang="en-US" sz="700" dirty="0">
              <a:latin typeface="Arial" panose="020B0604020202020204" pitchFamily="34" charset="0"/>
              <a:cs typeface="Arial" panose="020B0604020202020204" pitchFamily="34" charset="0"/>
            </a:endParaRPr>
          </a:p>
        </p:txBody>
      </p:sp>
      <p:sp>
        <p:nvSpPr>
          <p:cNvPr id="11" name="Text 8"/>
          <p:cNvSpPr/>
          <p:nvPr/>
        </p:nvSpPr>
        <p:spPr>
          <a:xfrm>
            <a:off x="4572000" y="1950244"/>
            <a:ext cx="3714750"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Completion &amp; Velocity</a:t>
            </a:r>
            <a:endParaRPr lang="en-US" sz="1400" dirty="0">
              <a:latin typeface="Arial" panose="020B0604020202020204" pitchFamily="34" charset="0"/>
              <a:cs typeface="Arial" panose="020B0604020202020204" pitchFamily="34" charset="0"/>
            </a:endParaRPr>
          </a:p>
        </p:txBody>
      </p:sp>
      <p:sp>
        <p:nvSpPr>
          <p:cNvPr id="12" name="Text 9"/>
          <p:cNvSpPr/>
          <p:nvPr/>
        </p:nvSpPr>
        <p:spPr>
          <a:xfrm>
            <a:off x="4572000" y="2328863"/>
            <a:ext cx="3714750" cy="54232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121A5D"/>
                </a:solidFill>
                <a:latin typeface="Arial" panose="020B0604020202020204" pitchFamily="34" charset="0"/>
                <a:ea typeface="Inter" pitchFamily="34" charset="-122"/>
                <a:cs typeface="Arial" panose="020B0604020202020204" pitchFamily="34" charset="0"/>
              </a:rPr>
              <a:t>2 of 19 total tasks (~10.5%)</a:t>
            </a:r>
            <a:r>
              <a:rPr lang="en-US" sz="950" dirty="0">
                <a:solidFill>
                  <a:srgbClr val="4A5568"/>
                </a:solidFill>
                <a:latin typeface="Arial" panose="020B0604020202020204" pitchFamily="34" charset="0"/>
                <a:ea typeface="Inter Light" pitchFamily="34" charset="-122"/>
                <a:cs typeface="Arial" panose="020B0604020202020204" pitchFamily="34" charset="0"/>
              </a:rPr>
              <a:t> completed. Critical path focus remains strictly on Frontend development chains to protect the final launch date.</a:t>
            </a:r>
            <a:endParaRPr lang="en-US" sz="950" dirty="0">
              <a:latin typeface="Arial" panose="020B0604020202020204" pitchFamily="34" charset="0"/>
              <a:cs typeface="Arial" panose="020B0604020202020204" pitchFamily="34" charset="0"/>
            </a:endParaRPr>
          </a:p>
        </p:txBody>
      </p:sp>
      <p:sp>
        <p:nvSpPr>
          <p:cNvPr id="13" name="Text 10"/>
          <p:cNvSpPr/>
          <p:nvPr/>
        </p:nvSpPr>
        <p:spPr>
          <a:xfrm>
            <a:off x="571500" y="3650456"/>
            <a:ext cx="3707606" cy="107722"/>
          </a:xfrm>
          <a:prstGeom prst="rect">
            <a:avLst/>
          </a:prstGeom>
          <a:noFill/>
          <a:ln/>
        </p:spPr>
        <p:txBody>
          <a:bodyPr wrap="square" lIns="0" tIns="0" rIns="0" bIns="0" rtlCol="0" anchor="t">
            <a:spAutoFit/>
          </a:bodyPr>
          <a:lstStyle/>
          <a:p>
            <a:pPr marL="0" indent="0" algn="l">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RISK ASSESSMENT</a:t>
            </a:r>
            <a:endParaRPr lang="en-US" sz="700" dirty="0">
              <a:latin typeface="Arial" panose="020B0604020202020204" pitchFamily="34" charset="0"/>
              <a:cs typeface="Arial" panose="020B0604020202020204" pitchFamily="34" charset="0"/>
            </a:endParaRPr>
          </a:p>
        </p:txBody>
      </p:sp>
      <p:sp>
        <p:nvSpPr>
          <p:cNvPr id="14" name="Text 11"/>
          <p:cNvSpPr/>
          <p:nvPr/>
        </p:nvSpPr>
        <p:spPr>
          <a:xfrm>
            <a:off x="571500" y="3879056"/>
            <a:ext cx="3707606"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Mitigation &amp; Blockers</a:t>
            </a:r>
            <a:endParaRPr lang="en-US" sz="1400" dirty="0">
              <a:latin typeface="Arial" panose="020B0604020202020204" pitchFamily="34" charset="0"/>
              <a:cs typeface="Arial" panose="020B0604020202020204" pitchFamily="34" charset="0"/>
            </a:endParaRPr>
          </a:p>
        </p:txBody>
      </p:sp>
      <p:sp>
        <p:nvSpPr>
          <p:cNvPr id="15" name="Text 12"/>
          <p:cNvSpPr/>
          <p:nvPr/>
        </p:nvSpPr>
        <p:spPr>
          <a:xfrm>
            <a:off x="571500" y="4257675"/>
            <a:ext cx="3707606"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121A5D"/>
                </a:solidFill>
                <a:latin typeface="Arial" panose="020B0604020202020204" pitchFamily="34" charset="0"/>
                <a:ea typeface="Inter" pitchFamily="34" charset="-122"/>
                <a:cs typeface="Arial" panose="020B0604020202020204" pitchFamily="34" charset="0"/>
              </a:rPr>
              <a:t>No active blockers</a:t>
            </a:r>
            <a:r>
              <a:rPr lang="en-US" sz="950" dirty="0">
                <a:solidFill>
                  <a:srgbClr val="4A5568"/>
                </a:solidFill>
                <a:latin typeface="Arial" panose="020B0604020202020204" pitchFamily="34" charset="0"/>
                <a:ea typeface="Inter Light" pitchFamily="34" charset="-122"/>
                <a:cs typeface="Arial" panose="020B0604020202020204" pitchFamily="34" charset="0"/>
              </a:rPr>
              <a:t> identified. SF-8 remains the immediate priority. Resource allocation is optimized for critical path tasks.</a:t>
            </a:r>
            <a:endParaRPr lang="en-US" sz="950" dirty="0">
              <a:latin typeface="Arial" panose="020B0604020202020204" pitchFamily="34" charset="0"/>
              <a:cs typeface="Arial" panose="020B0604020202020204" pitchFamily="34" charset="0"/>
            </a:endParaRPr>
          </a:p>
        </p:txBody>
      </p:sp>
      <p:sp>
        <p:nvSpPr>
          <p:cNvPr id="16" name="Text 13"/>
          <p:cNvSpPr/>
          <p:nvPr/>
        </p:nvSpPr>
        <p:spPr>
          <a:xfrm>
            <a:off x="4572000" y="3650456"/>
            <a:ext cx="3714750" cy="107722"/>
          </a:xfrm>
          <a:prstGeom prst="rect">
            <a:avLst/>
          </a:prstGeom>
          <a:noFill/>
          <a:ln/>
        </p:spPr>
        <p:txBody>
          <a:bodyPr wrap="square" lIns="0" tIns="0" rIns="0" bIns="0" rtlCol="0" anchor="t">
            <a:spAutoFit/>
          </a:bodyPr>
          <a:lstStyle/>
          <a:p>
            <a:pPr marL="0" indent="0" algn="l">
              <a:buNone/>
            </a:pPr>
            <a:r>
              <a:rPr lang="en-US" sz="700" kern="0" spc="2" dirty="0">
                <a:solidFill>
                  <a:srgbClr val="0B6AE9"/>
                </a:solidFill>
                <a:latin typeface="Arial" panose="020B0604020202020204" pitchFamily="34" charset="0"/>
                <a:ea typeface="Inter SemiBold" pitchFamily="34" charset="-122"/>
                <a:cs typeface="Arial" panose="020B0604020202020204" pitchFamily="34" charset="0"/>
              </a:rPr>
              <a:t>FORWARD PLANNING</a:t>
            </a:r>
            <a:endParaRPr lang="en-US" sz="700" dirty="0">
              <a:latin typeface="Arial" panose="020B0604020202020204" pitchFamily="34" charset="0"/>
              <a:cs typeface="Arial" panose="020B0604020202020204" pitchFamily="34" charset="0"/>
            </a:endParaRPr>
          </a:p>
        </p:txBody>
      </p:sp>
      <p:sp>
        <p:nvSpPr>
          <p:cNvPr id="17" name="Text 14"/>
          <p:cNvSpPr/>
          <p:nvPr/>
        </p:nvSpPr>
        <p:spPr>
          <a:xfrm>
            <a:off x="4572000" y="3879056"/>
            <a:ext cx="3714750" cy="215444"/>
          </a:xfrm>
          <a:prstGeom prst="rect">
            <a:avLst/>
          </a:prstGeom>
          <a:noFill/>
          <a:ln/>
        </p:spPr>
        <p:txBody>
          <a:bodyPr wrap="square" lIns="0" tIns="0" rIns="0" bIns="0" rtlCol="0" anchor="t">
            <a:spAutoFit/>
          </a:bodyPr>
          <a:lstStyle/>
          <a:p>
            <a:pPr marL="0" indent="0" algn="l">
              <a:buNone/>
            </a:pPr>
            <a:r>
              <a:rPr lang="en-US" sz="1400" b="1" dirty="0">
                <a:solidFill>
                  <a:srgbClr val="121A5D"/>
                </a:solidFill>
                <a:latin typeface="Arial" panose="020B0604020202020204" pitchFamily="34" charset="0"/>
                <a:ea typeface="Cardo Bold" pitchFamily="34" charset="-122"/>
                <a:cs typeface="Arial" panose="020B0604020202020204" pitchFamily="34" charset="0"/>
              </a:rPr>
              <a:t>Immediate Next Steps</a:t>
            </a:r>
            <a:endParaRPr lang="en-US" sz="1400" dirty="0">
              <a:latin typeface="Arial" panose="020B0604020202020204" pitchFamily="34" charset="0"/>
              <a:cs typeface="Arial" panose="020B0604020202020204" pitchFamily="34" charset="0"/>
            </a:endParaRPr>
          </a:p>
        </p:txBody>
      </p:sp>
      <p:sp>
        <p:nvSpPr>
          <p:cNvPr id="18" name="Text 15"/>
          <p:cNvSpPr/>
          <p:nvPr/>
        </p:nvSpPr>
        <p:spPr>
          <a:xfrm>
            <a:off x="4572000" y="4257675"/>
            <a:ext cx="3714750" cy="35522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A5568"/>
                </a:solidFill>
                <a:latin typeface="Arial" panose="020B0604020202020204" pitchFamily="34" charset="0"/>
                <a:ea typeface="Inter Light" pitchFamily="34" charset="-122"/>
                <a:cs typeface="Arial" panose="020B0604020202020204" pitchFamily="34" charset="0"/>
              </a:rPr>
              <a:t>Initiate </a:t>
            </a:r>
            <a:r>
              <a:rPr lang="en-US" sz="950" dirty="0">
                <a:solidFill>
                  <a:srgbClr val="121A5D"/>
                </a:solidFill>
                <a:latin typeface="Arial" panose="020B0604020202020204" pitchFamily="34" charset="0"/>
                <a:ea typeface="Inter" pitchFamily="34" charset="-122"/>
                <a:cs typeface="Arial" panose="020B0604020202020204" pitchFamily="34" charset="0"/>
              </a:rPr>
              <a:t>SF-12 Backend/API development</a:t>
            </a:r>
            <a:r>
              <a:rPr lang="en-US" sz="950" dirty="0">
                <a:solidFill>
                  <a:srgbClr val="4A5568"/>
                </a:solidFill>
                <a:latin typeface="Arial" panose="020B0604020202020204" pitchFamily="34" charset="0"/>
                <a:ea typeface="Inter Light" pitchFamily="34" charset="-122"/>
                <a:cs typeface="Arial" panose="020B0604020202020204" pitchFamily="34" charset="0"/>
              </a:rPr>
              <a:t> immediately upon SF-8 validation. Conduct mid-week review of Frontend chain progress.</a:t>
            </a:r>
            <a:endParaRPr lang="en-US" sz="950" dirty="0">
              <a:latin typeface="Arial" panose="020B0604020202020204" pitchFamily="34" charset="0"/>
              <a:cs typeface="Arial" panose="020B0604020202020204" pitchFamily="34" charset="0"/>
            </a:endParaRPr>
          </a:p>
        </p:txBody>
      </p:sp>
      <p:sp>
        <p:nvSpPr>
          <p:cNvPr id="19" name="Text 16"/>
          <p:cNvSpPr/>
          <p:nvPr/>
        </p:nvSpPr>
        <p:spPr>
          <a:xfrm>
            <a:off x="6981230" y="4736306"/>
            <a:ext cx="1591270" cy="115416"/>
          </a:xfrm>
          <a:prstGeom prst="rect">
            <a:avLst/>
          </a:prstGeom>
          <a:noFill/>
          <a:ln/>
        </p:spPr>
        <p:txBody>
          <a:bodyPr wrap="square" lIns="0" tIns="0" rIns="0" bIns="0" rtlCol="0" anchor="t">
            <a:spAutoFit/>
          </a:bodyPr>
          <a:lstStyle/>
          <a:p>
            <a:pPr marL="0" indent="0" algn="l">
              <a:buNone/>
            </a:pPr>
            <a:r>
              <a:rPr lang="en-US" sz="750" dirty="0">
                <a:solidFill>
                  <a:srgbClr val="E2E8F0"/>
                </a:solidFill>
                <a:latin typeface="Arial" panose="020B0604020202020204" pitchFamily="34" charset="0"/>
                <a:ea typeface="Inter" pitchFamily="34" charset="-122"/>
                <a:cs typeface="Arial" panose="020B0604020202020204" pitchFamily="34" charset="0"/>
              </a:rPr>
              <a:t>EXECUTIVE SUMMARY / PAGE 12</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3859A1-DEBD-0676-B049-A45BB00AAABA}"/>
              </a:ext>
            </a:extLst>
          </p:cNvPr>
          <p:cNvPicPr>
            <a:picLocks noChangeAspect="1"/>
          </p:cNvPicPr>
          <p:nvPr/>
        </p:nvPicPr>
        <p:blipFill>
          <a:blip r:embed="rId2"/>
          <a:stretch>
            <a:fillRect/>
          </a:stretch>
        </p:blipFill>
        <p:spPr>
          <a:xfrm>
            <a:off x="0" y="1255"/>
            <a:ext cx="9144000" cy="5140990"/>
          </a:xfrm>
          <a:prstGeom prst="rect">
            <a:avLst/>
          </a:prstGeom>
        </p:spPr>
      </p:pic>
    </p:spTree>
    <p:extLst>
      <p:ext uri="{BB962C8B-B14F-4D97-AF65-F5344CB8AC3E}">
        <p14:creationId xmlns:p14="http://schemas.microsoft.com/office/powerpoint/2010/main" val="3630421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357313" y="662443"/>
            <a:ext cx="6429375" cy="138499"/>
          </a:xfrm>
          <a:prstGeom prst="rect">
            <a:avLst/>
          </a:prstGeom>
          <a:noFill/>
          <a:ln/>
        </p:spPr>
        <p:txBody>
          <a:bodyPr wrap="square" lIns="0" tIns="0" rIns="0" bIns="0" rtlCol="0" anchor="t">
            <a:spAutoFit/>
          </a:bodyPr>
          <a:lstStyle/>
          <a:p>
            <a:pPr marL="0" indent="0" algn="ctr">
              <a:buNone/>
            </a:pPr>
            <a:r>
              <a:rPr lang="en-US" sz="900" kern="0" spc="3" dirty="0">
                <a:solidFill>
                  <a:srgbClr val="0B6AE9"/>
                </a:solidFill>
                <a:latin typeface="Arial" panose="020B0604020202020204" pitchFamily="34" charset="0"/>
                <a:ea typeface="Inter SemiBold" pitchFamily="34" charset="-122"/>
                <a:cs typeface="Arial" panose="020B0604020202020204" pitchFamily="34" charset="0"/>
              </a:rPr>
              <a:t>KEY TAKEAWAY</a:t>
            </a:r>
            <a:endParaRPr lang="en-US" sz="900" dirty="0">
              <a:latin typeface="Arial" panose="020B0604020202020204" pitchFamily="34" charset="0"/>
              <a:cs typeface="Arial" panose="020B0604020202020204" pitchFamily="34" charset="0"/>
            </a:endParaRPr>
          </a:p>
        </p:txBody>
      </p:sp>
      <p:sp>
        <p:nvSpPr>
          <p:cNvPr id="4" name="Text 1"/>
          <p:cNvSpPr/>
          <p:nvPr/>
        </p:nvSpPr>
        <p:spPr>
          <a:xfrm>
            <a:off x="1357313" y="1103570"/>
            <a:ext cx="6429375" cy="1950021"/>
          </a:xfrm>
          <a:prstGeom prst="rect">
            <a:avLst/>
          </a:prstGeom>
          <a:noFill/>
          <a:ln/>
        </p:spPr>
        <p:txBody>
          <a:bodyPr wrap="square" lIns="0" tIns="0" rIns="0" bIns="0" rtlCol="0" anchor="t">
            <a:spAutoFit/>
          </a:bodyPr>
          <a:lstStyle/>
          <a:p>
            <a:pPr marL="0" indent="0" algn="ctr">
              <a:lnSpc>
                <a:spcPct val="96000"/>
              </a:lnSpc>
              <a:buNone/>
            </a:pPr>
            <a:r>
              <a:rPr lang="en-US" sz="3300" b="1" dirty="0">
                <a:solidFill>
                  <a:srgbClr val="FFFFFF"/>
                </a:solidFill>
                <a:latin typeface="Arial" panose="020B0604020202020204" pitchFamily="34" charset="0"/>
                <a:ea typeface="Cardo Bold" pitchFamily="34" charset="-122"/>
                <a:cs typeface="Arial" panose="020B0604020202020204" pitchFamily="34" charset="0"/>
              </a:rPr>
              <a:t>Planning tells you what </a:t>
            </a:r>
            <a:r>
              <a:rPr lang="en-US" sz="3300" b="1" dirty="0">
                <a:solidFill>
                  <a:srgbClr val="0B6AE9"/>
                </a:solidFill>
                <a:latin typeface="Arial" panose="020B0604020202020204" pitchFamily="34" charset="0"/>
                <a:ea typeface="Cardo Bold" pitchFamily="34" charset="-122"/>
                <a:cs typeface="Arial" panose="020B0604020202020204" pitchFamily="34" charset="0"/>
              </a:rPr>
              <a:t>should</a:t>
            </a:r>
            <a:r>
              <a:rPr lang="en-US" sz="3300" b="1" dirty="0">
                <a:solidFill>
                  <a:srgbClr val="FFFFFF"/>
                </a:solidFill>
                <a:latin typeface="Arial" panose="020B0604020202020204" pitchFamily="34" charset="0"/>
                <a:ea typeface="Cardo Bold" pitchFamily="34" charset="-122"/>
                <a:cs typeface="Arial" panose="020B0604020202020204" pitchFamily="34" charset="0"/>
              </a:rPr>
              <a:t> happen.
Tracking tells you what </a:t>
            </a:r>
            <a:r>
              <a:rPr lang="en-US" sz="3300" b="1" dirty="0">
                <a:solidFill>
                  <a:srgbClr val="0B6AE9"/>
                </a:solidFill>
                <a:latin typeface="Arial" panose="020B0604020202020204" pitchFamily="34" charset="0"/>
                <a:ea typeface="Cardo Bold" pitchFamily="34" charset="-122"/>
                <a:cs typeface="Arial" panose="020B0604020202020204" pitchFamily="34" charset="0"/>
              </a:rPr>
              <a:t>is</a:t>
            </a:r>
            <a:r>
              <a:rPr lang="en-US" sz="3300" b="1" dirty="0">
                <a:solidFill>
                  <a:srgbClr val="FFFFFF"/>
                </a:solidFill>
                <a:latin typeface="Arial" panose="020B0604020202020204" pitchFamily="34" charset="0"/>
                <a:ea typeface="Cardo Bold" pitchFamily="34" charset="-122"/>
                <a:cs typeface="Arial" panose="020B0604020202020204" pitchFamily="34" charset="0"/>
              </a:rPr>
              <a:t> happening.</a:t>
            </a:r>
            <a:endParaRPr lang="en-US" sz="3300" dirty="0">
              <a:latin typeface="Arial" panose="020B0604020202020204" pitchFamily="34" charset="0"/>
              <a:cs typeface="Arial" panose="020B0604020202020204" pitchFamily="34" charset="0"/>
            </a:endParaRPr>
          </a:p>
        </p:txBody>
      </p:sp>
      <p:sp>
        <p:nvSpPr>
          <p:cNvPr id="5" name="Text 2"/>
          <p:cNvSpPr/>
          <p:nvPr/>
        </p:nvSpPr>
        <p:spPr>
          <a:xfrm>
            <a:off x="1714500" y="3726666"/>
            <a:ext cx="5715000" cy="656526"/>
          </a:xfrm>
          <a:prstGeom prst="rect">
            <a:avLst/>
          </a:prstGeom>
          <a:noFill/>
          <a:ln/>
        </p:spPr>
        <p:txBody>
          <a:bodyPr wrap="square" lIns="0" tIns="0" rIns="0" bIns="0" rtlCol="0" anchor="t">
            <a:spAutoFit/>
          </a:bodyPr>
          <a:lstStyle/>
          <a:p>
            <a:pPr marL="0" indent="0" algn="ctr">
              <a:lnSpc>
                <a:spcPct val="128000"/>
              </a:lnSpc>
              <a:buNone/>
            </a:pPr>
            <a:r>
              <a:rPr lang="en-US" sz="1150" dirty="0">
                <a:solidFill>
                  <a:srgbClr val="FFFFFF">
                    <a:alpha val="80000"/>
                  </a:srgbClr>
                </a:solidFill>
                <a:latin typeface="Arial" panose="020B0604020202020204" pitchFamily="34" charset="0"/>
                <a:ea typeface="Inter Light" pitchFamily="34" charset="-122"/>
                <a:cs typeface="Arial" panose="020B0604020202020204" pitchFamily="34" charset="0"/>
              </a:rPr>
              <a:t>The critical path tells you what to protect. Float tells you what you can afford to lose. Bottlenecks tell you where to focus. Together, they are how you stay in control of your delivery.</a:t>
            </a:r>
            <a:endParaRPr lang="en-US" sz="1150" dirty="0">
              <a:latin typeface="Arial" panose="020B0604020202020204" pitchFamily="34" charset="0"/>
              <a:cs typeface="Arial" panose="020B0604020202020204" pitchFamily="34" charset="0"/>
            </a:endParaRPr>
          </a:p>
        </p:txBody>
      </p:sp>
      <p:sp>
        <p:nvSpPr>
          <p:cNvPr id="6" name="Text 3"/>
          <p:cNvSpPr/>
          <p:nvPr/>
        </p:nvSpPr>
        <p:spPr>
          <a:xfrm>
            <a:off x="6979444" y="4736306"/>
            <a:ext cx="1593056" cy="115416"/>
          </a:xfrm>
          <a:prstGeom prst="rect">
            <a:avLst/>
          </a:prstGeom>
          <a:noFill/>
          <a:ln/>
        </p:spPr>
        <p:txBody>
          <a:bodyPr wrap="square" lIns="0" tIns="0" rIns="0" bIns="0" rtlCol="0" anchor="t">
            <a:spAutoFit/>
          </a:bodyPr>
          <a:lstStyle/>
          <a:p>
            <a:pPr marL="0" indent="0" algn="l">
              <a:buNone/>
            </a:pPr>
            <a:r>
              <a:rPr lang="en-US" sz="750" dirty="0">
                <a:solidFill>
                  <a:srgbClr val="FFFFFF">
                    <a:alpha val="40000"/>
                  </a:srgbClr>
                </a:solidFill>
                <a:latin typeface="Arial" panose="020B0604020202020204" pitchFamily="34" charset="0"/>
                <a:ea typeface="Inter" pitchFamily="34" charset="-122"/>
                <a:cs typeface="Arial" panose="020B0604020202020204" pitchFamily="34" charset="0"/>
              </a:rPr>
              <a:t>EXECUTIVE SUMMARY / PAGE 13</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1214</Words>
  <Application>Microsoft Office PowerPoint</Application>
  <PresentationFormat>On-screen Show (16:9)</PresentationFormat>
  <Paragraphs>241</Paragraphs>
  <Slides>14</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Victor Raji</cp:lastModifiedBy>
  <cp:revision>4</cp:revision>
  <dcterms:created xsi:type="dcterms:W3CDTF">2026-06-15T10:05:23Z</dcterms:created>
  <dcterms:modified xsi:type="dcterms:W3CDTF">2026-06-15T11:01:29Z</dcterms:modified>
</cp:coreProperties>
</file>