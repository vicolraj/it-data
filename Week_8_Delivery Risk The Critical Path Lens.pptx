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9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21A5D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280035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STRATEGIC PRIORITIZATION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692944"/>
            <a:ext cx="2800350" cy="115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Delivery Risk: The Critical Path Lens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298809"/>
            <a:ext cx="2800350" cy="209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Raji </a:t>
            </a:r>
            <a:r>
              <a:rPr lang="en-US" sz="1250">
                <a:solidFill>
                  <a:srgbClr val="FFFFFF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Victor Oluwapelumi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4107656"/>
            <a:ext cx="28003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The Core Question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4486275"/>
            <a:ext cx="2508700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B6AE9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"Does this risk threaten a zero-float task?"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86225" y="428625"/>
            <a:ext cx="4486275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B6AE9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RISK VS. CRITICAL PATH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0" y="835819"/>
            <a:ext cx="1426673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Fundamental Alignment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6250" y="1126927"/>
            <a:ext cx="3765454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Delivery risk is fundamentally about what threatens your critical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6250" y="1355527"/>
            <a:ext cx="299762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path.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86250" y="1807369"/>
            <a:ext cx="1192634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Lower Priority Risks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86250" y="2098477"/>
            <a:ext cx="3767057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 risk that only affects a task with float is lower priority because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86250" y="2327077"/>
            <a:ext cx="1670329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you have buffer to absorb it.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86250" y="2778919"/>
            <a:ext cx="1223092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Higher Priority Risks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86250" y="3070027"/>
            <a:ext cx="3520194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 risk that affects a critical path task is automatically higher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86250" y="3298627"/>
            <a:ext cx="2039020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priority because there is no buffer.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90222" y="4736306"/>
            <a:ext cx="104355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SECTION 04 / PAGE 14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480668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Categories of Delivery Risk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02971"/>
            <a:ext cx="85725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6AE9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Identifying systemic threats to project momentum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60209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158473"/>
            <a:ext cx="106580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Technical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1500" y="2471347"/>
            <a:ext cx="1440163" cy="61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The solution might not work as designed, such as an encryption library having compatibility issues.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688" y="1760209"/>
            <a:ext cx="200025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11688" y="2158473"/>
            <a:ext cx="1051570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Schedule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211688" y="2471347"/>
            <a:ext cx="1440163" cy="61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 task takes longer than planned, for example, UI/UX Design running over its 24-day estimate.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77" y="1760209"/>
            <a:ext cx="2857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51877" y="2158473"/>
            <a:ext cx="1065997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Resource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3851877" y="2471347"/>
            <a:ext cx="1440163" cy="61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 person, tool, or budget becomes unavailable, such as the only backend developer falling ill.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065" y="1760209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92065" y="2158473"/>
            <a:ext cx="97302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External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5492065" y="2471347"/>
            <a:ext cx="1440163" cy="61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Factors outside your control, such as AWS account approval delays or unavailable faculty admin.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253" y="1760209"/>
            <a:ext cx="200025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253" y="2158473"/>
            <a:ext cx="82875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Scope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132253" y="2471347"/>
            <a:ext cx="1440163" cy="61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Uncontrolled growth of requirements, remaining a critical factor from previous project phases.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495580" y="4736306"/>
            <a:ext cx="104355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SECTION 04 / PAGE 15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056786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SecureVote Risk Identification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02971"/>
            <a:ext cx="85725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6AE9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Analyzing priority through the critical path lens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503034"/>
            <a:ext cx="32004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913799"/>
            <a:ext cx="32004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86414"/>
            <a:ext cx="32004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RISK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71900" y="1503034"/>
            <a:ext cx="16002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3771900" y="191379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3771900" y="1486414"/>
            <a:ext cx="16002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CATEGORY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372100" y="1503034"/>
            <a:ext cx="16002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5372100" y="191379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372100" y="1486414"/>
            <a:ext cx="16002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ON CRITICAL PATH?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72300" y="1503034"/>
            <a:ext cx="16002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972300" y="191379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972300" y="1486414"/>
            <a:ext cx="16002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PRIORITY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1900917"/>
            <a:ext cx="32004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UI/UX Design (SF-10) over 24-day estimate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771900" y="1900917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Schedule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72100" y="1900917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Yes (Zero Float)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72300" y="1904764"/>
            <a:ext cx="1600200" cy="380617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Critical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1500" y="2258104"/>
            <a:ext cx="32004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Backend/API (SF-12) delayed by 2 weeks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771900" y="225810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Schedule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72100" y="225810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No (23 Days Float)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72300" y="225810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0AEC0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Low (Absorbable)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71500" y="2617077"/>
            <a:ext cx="32004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AWS account approval delay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771900" y="2617077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External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72100" y="2617077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No (Non-critical chain)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972300" y="2617077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Medium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71500" y="2976051"/>
            <a:ext cx="32004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Designer (SF-10/11) becomes unavailable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771900" y="2976051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Resource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372100" y="2976051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Yes (Critical Path)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972300" y="2979898"/>
            <a:ext cx="1600200" cy="380617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Critical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71500" y="3349693"/>
            <a:ext cx="3200400" cy="358973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Device encryption library security flaw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771900" y="333502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Technical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72100" y="333502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No (Float available)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972300" y="3335024"/>
            <a:ext cx="1600200" cy="388311"/>
          </a:xfrm>
          <a:prstGeom prst="rect">
            <a:avLst/>
          </a:prstGeom>
          <a:noFill/>
          <a:ln/>
        </p:spPr>
        <p:txBody>
          <a:bodyPr wrap="square" lIns="170053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Medium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Shape 35"/>
          <p:cNvSpPr/>
          <p:nvPr/>
        </p:nvSpPr>
        <p:spPr>
          <a:xfrm>
            <a:off x="0" y="428625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6"/>
          <p:cNvSpPr/>
          <p:nvPr/>
        </p:nvSpPr>
        <p:spPr>
          <a:xfrm>
            <a:off x="571500" y="4500563"/>
            <a:ext cx="80010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THE CRITICAL LENS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71500" y="4695230"/>
            <a:ext cx="8001000" cy="347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 2-week delay is </a:t>
            </a: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Critical</a:t>
            </a: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 for SF-10 but </a:t>
            </a: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Low</a:t>
            </a: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 for SF-12, purely based on their position relative to the critical path. This provides the essential context missing from generic risk registers.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808119" y="4895255"/>
            <a:ext cx="960199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RISK ANALYSIS / PAGE 16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0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48627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OPERATIONAL FRAMEWORK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692944"/>
            <a:ext cx="4486275" cy="89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The Escalation Framework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84511"/>
            <a:ext cx="4486275" cy="75475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The structured process of raising an issue to someone with more authority or resources when you cannot resolve it at your current level.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3461817"/>
            <a:ext cx="448627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WHY ESCALATIONS FAIL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3726135"/>
            <a:ext cx="831959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Timing Issues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1525" y="3995812"/>
            <a:ext cx="3247684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Raising the issue too late to enable effective executive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1525" y="4210124"/>
            <a:ext cx="2184893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intervention or resource reallocation.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1525" y="4583385"/>
            <a:ext cx="1033937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Information Gaps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1525" y="4853062"/>
            <a:ext cx="3696525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Escalating without the specific data or factual context required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1525" y="5067374"/>
            <a:ext cx="1245534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for a senior decision.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0" y="0"/>
            <a:ext cx="3657600" cy="5440635"/>
          </a:xfrm>
          <a:prstGeom prst="rect">
            <a:avLst/>
          </a:prstGeom>
          <a:solidFill>
            <a:srgbClr val="121A5D"/>
          </a:solidFill>
          <a:ln/>
        </p:spPr>
      </p:sp>
      <p:sp>
        <p:nvSpPr>
          <p:cNvPr id="14" name="Text 11"/>
          <p:cNvSpPr/>
          <p:nvPr/>
        </p:nvSpPr>
        <p:spPr>
          <a:xfrm>
            <a:off x="5843588" y="428625"/>
            <a:ext cx="29432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THE CORE PRINCIPLE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43588" y="692944"/>
            <a:ext cx="29432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The Golden Rule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843588" y="1255514"/>
            <a:ext cx="2943225" cy="656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"Escalate based on impact and time-sensitivity, not based on how uncomfortable the conversation feels."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81317" y="4736306"/>
            <a:ext cx="10916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ESCALATION / PAGE 17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21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512454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The Escalation Ladder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67303"/>
            <a:ext cx="7121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LEVEL 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771650" y="1367303"/>
            <a:ext cx="68008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Self-Resolve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71650" y="1749493"/>
            <a:ext cx="6800850" cy="15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The individual doing the work attempts to solve the issue independently within a reasonable timeframe, typically same-day.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428149"/>
            <a:ext cx="7121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LEVEL 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71650" y="2428149"/>
            <a:ext cx="68008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Team-Resolve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771650" y="2810340"/>
            <a:ext cx="6800850" cy="15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If self-resolution fails, the issue is raised to the team during standup for collective troubleshooting and peer support.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3338978"/>
            <a:ext cx="8001000" cy="10822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338978"/>
            <a:ext cx="8001000" cy="28575"/>
          </a:xfrm>
          <a:prstGeom prst="rect">
            <a:avLst/>
          </a:prstGeom>
          <a:solidFill>
            <a:srgbClr val="121A5D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481853"/>
            <a:ext cx="7121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LEVEL 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71650" y="3481853"/>
            <a:ext cx="68008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Scrum Master / PM-Resolve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71650" y="3864043"/>
            <a:ext cx="6800850" cy="15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If the team cannot resolve the blocker, the PM intervenes to remove organizational obstacles or secure necessary resources.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4542699"/>
            <a:ext cx="7121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LEVEL 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771650" y="4542699"/>
            <a:ext cx="68008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Stakeholder / Sponsor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71650" y="4924890"/>
            <a:ext cx="6800850" cy="334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If the issue threatens project timeline, budget, or scope beyond PM authority, it is escalated to senior stakeholders for strategic approval.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61647" y="4736306"/>
            <a:ext cx="10916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ESCALATION / PAGE 18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986208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The Anatomy of a Good Escalation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02971"/>
            <a:ext cx="85725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6AE9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Ensuring clarity and action-oriented communication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4375" y="1645909"/>
            <a:ext cx="1446609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OBJECTIVE DEFINITION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874509"/>
            <a:ext cx="38576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What is the issue?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292418"/>
            <a:ext cx="3857625" cy="35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Provide a factual and objective description of the blocker, avoiding emotional framing or subjective assessments.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57750" y="1645909"/>
            <a:ext cx="699038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DUE DILIGENCE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14875" y="1874509"/>
            <a:ext cx="38576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What have you tried?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14875" y="2292418"/>
            <a:ext cx="3857625" cy="35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Demonstrate that Level 1 (self-resolve) and Level 2 (team-resolve) attempts have occurred prior to escalating.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3612589"/>
            <a:ext cx="131980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STRATEGIC CONTEXT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3841189"/>
            <a:ext cx="38576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What is the impact?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4259098"/>
            <a:ext cx="3857625" cy="35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Directly tie the unresolved risk to the critical path, project deadline, or overall budget constraints.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57750" y="3612589"/>
            <a:ext cx="872931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2" dirty="0">
                <a:solidFill>
                  <a:srgbClr val="0B6AE9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SPECIFIC REQUEST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14875" y="3841189"/>
            <a:ext cx="38576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What do you need?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14875" y="4259098"/>
            <a:ext cx="3857625" cy="35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Be specific about the required decision, resource, or authority rather than making a general request for assistance.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61647" y="4736306"/>
            <a:ext cx="10916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ESCALATION / PAGE 19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244338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Recovery Planning Techniques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403021"/>
            <a:ext cx="228600" cy="9483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403021"/>
            <a:ext cx="72009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Crashing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71600" y="1770924"/>
            <a:ext cx="7200900" cy="15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Adding more resources to a specific task to shorten its overall duration, typically involving additional financial expenditure.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71600" y="2213837"/>
            <a:ext cx="72009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TRADEOFF: INCREASED COST AND COORDINATION OVERHEAD.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71500" y="2529948"/>
            <a:ext cx="8001000" cy="114121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529948"/>
            <a:ext cx="8001000" cy="28575"/>
          </a:xfrm>
          <a:prstGeom prst="rect">
            <a:avLst/>
          </a:prstGeom>
          <a:solidFill>
            <a:srgbClr val="121A5D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708542"/>
            <a:ext cx="228600" cy="7554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708542"/>
            <a:ext cx="72009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Fast-tracking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371600" y="3076445"/>
            <a:ext cx="6264535" cy="159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Executing tasks in parallel that were originally planned to occur sequentially, requiring work to overlap across stages.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371600" y="3326476"/>
            <a:ext cx="72009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TRADEOFF: HIGHER RISK OF REWORK DUE TO OVERLAPPING DEPENDENCIES.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28324"/>
            <a:ext cx="228600" cy="7554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828324"/>
            <a:ext cx="72009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Re-scoping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371600" y="4196228"/>
            <a:ext cx="5854167" cy="159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Reducing the breadth of what will be delivered to recover lost time, utilizing the MoSCoW prioritization model.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371600" y="4446259"/>
            <a:ext cx="72009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TRADEOFF: REDUCTION IN TOTAL DELIVERED FUNCTIONALITY.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536656" y="4736306"/>
            <a:ext cx="102111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RECOVERY / PAGE 20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526467" cy="446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Choosing a Recovery Technique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02971"/>
            <a:ext cx="85725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6AE9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Strategic tradeoffs in project stabilization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574471"/>
            <a:ext cx="200025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985237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557851"/>
            <a:ext cx="200025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TECHNIQUE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71750" y="1574471"/>
            <a:ext cx="280035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2571750" y="1985237"/>
            <a:ext cx="28003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2571750" y="1557851"/>
            <a:ext cx="280035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BEST WHEN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372100" y="1574471"/>
            <a:ext cx="16002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5372100" y="1985237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372100" y="1557851"/>
            <a:ext cx="16002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COST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72300" y="1574471"/>
            <a:ext cx="1600200" cy="4179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972300" y="1985237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972300" y="1557851"/>
            <a:ext cx="1600200" cy="451149"/>
          </a:xfrm>
          <a:prstGeom prst="rect">
            <a:avLst/>
          </a:prstGeom>
          <a:noFill/>
          <a:ln/>
        </p:spPr>
        <p:txBody>
          <a:bodyPr wrap="square" lIns="170053" tIns="170053" rIns="0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121A5D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RISK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1988809"/>
            <a:ext cx="2000250" cy="614014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Crashing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71750" y="1988809"/>
            <a:ext cx="2800350" cy="575542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Budget is available and the task is parallelizable.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72100" y="1988809"/>
            <a:ext cx="1600200" cy="575542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High (Extra Cost)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72300" y="1988809"/>
            <a:ext cx="1600200" cy="575542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Medium (Coordination)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1500" y="2660321"/>
            <a:ext cx="2000250" cy="614014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Fast-tracking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571750" y="2660321"/>
            <a:ext cx="2800350" cy="721736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Some overlap is tolerable and the deadline is fixed.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72100" y="2660321"/>
            <a:ext cx="1600200" cy="575542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Low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72300" y="2660321"/>
            <a:ext cx="1600200" cy="575542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High (Rework Risk)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71500" y="3335406"/>
            <a:ext cx="2000250" cy="614014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6AE9"/>
                </a:solidFill>
                <a:latin typeface="Arial" panose="020B0604020202020204" pitchFamily="34" charset="0"/>
                <a:ea typeface="Cardo Bold" pitchFamily="34" charset="-122"/>
                <a:cs typeface="Arial" panose="020B0604020202020204" pitchFamily="34" charset="0"/>
              </a:rPr>
              <a:t>Re-scoping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71750" y="3335406"/>
            <a:ext cx="2800350" cy="596503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Both deadline and budget are fixed.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72100" y="3335406"/>
            <a:ext cx="1600200" cy="596503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None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972300" y="3335406"/>
            <a:ext cx="1600200" cy="596503"/>
          </a:xfrm>
          <a:prstGeom prst="rect">
            <a:avLst/>
          </a:prstGeom>
          <a:noFill/>
          <a:ln/>
        </p:spPr>
        <p:txBody>
          <a:bodyPr wrap="square" lIns="170053" tIns="212598" rIns="0" bIns="21259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21A5D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Low (if MoSCoW used)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558088" y="4736306"/>
            <a:ext cx="102111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RECOVERY / PAGE 21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21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21A5D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Recovery Decision Flow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367303"/>
            <a:ext cx="1200150" cy="767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STEP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771650" y="1367303"/>
            <a:ext cx="68008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Critical Path Assessment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1650" y="1749493"/>
            <a:ext cx="6800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Is the delay on the critical path? If no, do nothing; the available float will absorb the variance without impacting the final deadline.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428149"/>
            <a:ext cx="1200150" cy="767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STEP 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71650" y="2428149"/>
            <a:ext cx="68008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Resource Capacity Check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71650" y="2810340"/>
            <a:ext cx="6800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If yes, can you add resources without breaking the budget? Consider crashing to shorten the task duration through extra expenditure.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3338978"/>
            <a:ext cx="8001000" cy="10822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338978"/>
            <a:ext cx="8001000" cy="28575"/>
          </a:xfrm>
          <a:prstGeom prst="rect">
            <a:avLst/>
          </a:prstGeom>
          <a:solidFill>
            <a:srgbClr val="121A5D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481853"/>
            <a:ext cx="1200150" cy="767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STEP 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71650" y="3481853"/>
            <a:ext cx="68008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Structural Overlap Check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771650" y="3864043"/>
            <a:ext cx="6800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If the budget is fixed, can some tasks overlap safely? Consider fast-tracking to execute sequential tasks in parallel.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" y="4542699"/>
            <a:ext cx="1200150" cy="767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0B6AE9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STEP 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71650" y="4542699"/>
            <a:ext cx="68008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A5D"/>
                </a:solidFill>
                <a:latin typeface="Cardo Bold" pitchFamily="34" charset="0"/>
                <a:ea typeface="Cardo Bold" pitchFamily="34" charset="-122"/>
                <a:cs typeface="Cardo Bold" pitchFamily="34" charset="-120"/>
              </a:rPr>
              <a:t>Strategic Re-scoping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771650" y="4924890"/>
            <a:ext cx="6800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If neither works, re-scope the project. Cut "Could Have" or "Won't Have" features using your established MoSCoW backlog.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38442" y="4736306"/>
            <a:ext cx="10340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/ PAGE 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946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Cardo Bold</vt:lpstr>
      <vt:lpstr>Inter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Victor Raji</cp:lastModifiedBy>
  <cp:revision>3</cp:revision>
  <cp:lastPrinted>2026-06-18T15:19:20Z</cp:lastPrinted>
  <dcterms:created xsi:type="dcterms:W3CDTF">2026-06-18T15:12:02Z</dcterms:created>
  <dcterms:modified xsi:type="dcterms:W3CDTF">2026-06-18T15:19:45Z</dcterms:modified>
</cp:coreProperties>
</file>