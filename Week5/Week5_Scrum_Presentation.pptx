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09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D59F-2AF0-AB8A-0CDF-B76ED217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FCDBA-2AA3-6BCF-BD67-3317A9C63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0E3C6-39FA-1FBD-ADEF-A4CA000EC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EE941-FE0D-E5F9-EAD8-79A49DE35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57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WEEK 5 ASSIGNMENT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0299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DDA"/>
                </a:solidFill>
              </a:rPr>
              <a:t>Roles  •  Ceremonies  •  Definition of Done  •  Velocity  •  Burndown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X3 Lab  •  IT Student Internship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344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Is Scrum?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984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Framework, not a methodology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1143000"/>
            <a:ext cx="26974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1430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344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92424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5 Scrum Roles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1984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Who does what and why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1143000"/>
            <a:ext cx="26974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1430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2344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0216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4 Ceremonies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984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Planning, Standup, Review, Retro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974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9260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" y="3291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Definition of Done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6758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'complete' actually means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7832" y="2834640"/>
            <a:ext cx="26974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29260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92424" y="3291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Velocity &amp; Burndown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92424" y="36758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Measuring and predicting progress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35624" y="2834640"/>
            <a:ext cx="2697480" cy="1417320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9260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0216" y="3291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Live Deliverables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0216" y="36758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Sprint board, burndown, blockers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Scrum?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 framework that breaks work into short cycles called Sprints. At the end of every sprint, you have something working that can be reviewed and adjusted. You never go more than 2 weeks without feedback.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2697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40233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562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WATERFALL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— Plan everything upfront before building anything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— Build for months or years in one long phase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— Deliver at the end — by then the world has changed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— Changes are expensive and disruptive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86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— Like building a full house before showing the buyer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4023360" cy="2697480"/>
          </a:xfrm>
          <a:prstGeom prst="rect">
            <a:avLst/>
          </a:prstGeom>
          <a:solidFill>
            <a:srgbClr val="EFF9F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82880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562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SCRUM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Plan one sprint at a time — 1 to 4 weeks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7249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Build, review, and adjust continuously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Working product at end of every sprint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Changes are welcomed between sprints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986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Like building one room at a time with feedback after each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Scrum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675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371600" cy="6675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Owner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1430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Voice of the customer. Owns the Product Backlog. Decides what gets built and in what order. Does NOT manage developers — manages the product.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10512"/>
            <a:ext cx="1371600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Scrum Master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901952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Protector of the process. Removes blockers. Facilitates all ceremonies. Not a project manager — serves the team, does not command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6675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69464"/>
            <a:ext cx="1371600" cy="6675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523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Dev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660904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The builders — developers, designers, testers. Self-organising: they decide HOW to do the work. Ideal size 3–9 people. Cross-functional.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28416"/>
            <a:ext cx="1371600" cy="6675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112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Stakeholders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3419856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Not inside the Scrum Team but attend Sprint Reviews to give feedback. In your project: the faculty HOD reviewing the voting system demo.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087368"/>
            <a:ext cx="8412480" cy="6675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87368"/>
            <a:ext cx="1371600" cy="6675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70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Scrum 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4178808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Product Owner + Scrum Master + Dev Team together. Accountable to each other and the sprint goal — not to a manager sitting outside the team.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Team vs Scrum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51760" y="1051560"/>
            <a:ext cx="283464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TRADITIONAL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23560" y="1051560"/>
            <a:ext cx="3200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SCRUM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19456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Who assigns 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572768"/>
            <a:ext cx="28346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Manager tells you what to 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572768"/>
            <a:ext cx="3200400" cy="594360"/>
          </a:xfrm>
          <a:prstGeom prst="rect">
            <a:avLst/>
          </a:prstGeom>
          <a:solidFill>
            <a:srgbClr val="EF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Team decides together every sprint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219456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95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Skills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2258568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Designer only designs. Dev only codes.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2258568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Everyone helps where needed — cross-functional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219456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81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Who you answer 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2944368"/>
            <a:ext cx="28346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Your boss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2944368"/>
            <a:ext cx="3200400" cy="594360"/>
          </a:xfrm>
          <a:prstGeom prst="rect">
            <a:avLst/>
          </a:prstGeom>
          <a:solidFill>
            <a:srgbClr val="EF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Your teammates and the Product Owner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30168"/>
            <a:ext cx="219456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67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How long to ship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3630168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Months — everything planned upfront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3630168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Weeks — working product every sprint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EFF9F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SecureVote example: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443984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Traditional: HOD assigns tasks, designer waits for approval before dev starts, no one knows what anyone else is doing, working product only at semester end.  Scrum: team plans every Monday, 15-min check-in daily, designer stuck = developer helps, faculty sees a demo every 2 weeks.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Scrum Ceremonies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Sprint Planning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When: Start of sprint   •   Time: 2–4 hrs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Who: Full team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1031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Output: Sprint Goal + Sprint Backlog committed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78992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152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Standup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When: Every day   •   Time: 15 min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0328" y="1828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Who: Dev team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0328" y="21031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Output: 3 Qs: Yesterday / Today / Blockers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4206240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36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Sprint 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538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When: End of sprint   •   Time: 1–2 hrs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38130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Who: Team + Stakeholders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40873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Output: Demo of Done work + backlog update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06324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063240"/>
            <a:ext cx="42062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136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Sprint Retrospective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0328" y="3538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When: After review   •   Time: 45–90 min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0328" y="38130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Who: Team only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0328" y="40873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Output: What went well / wrong / change next sprint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of Done (DoD)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 shared, written agreement of exactly what 'complete' means for any task. If it does not meet the DoD, it is NOT done — even if the developer says it 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1554480"/>
          </a:xfrm>
          <a:prstGeom prst="rect">
            <a:avLst/>
          </a:prstGeom>
          <a:solidFill>
            <a:srgbClr val="FEF2F2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56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Without a DoD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Dev A: done = code written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Dev B: done = tested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Dev C: done = deployed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Nobody agrees — sprint review is a mess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4023360" cy="1554480"/>
          </a:xfrm>
          <a:prstGeom prst="rect">
            <a:avLst/>
          </a:prstGeom>
          <a:solidFill>
            <a:srgbClr val="F0FFF8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828800"/>
            <a:ext cx="40233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856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With a DoD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Code written and peer-reviewed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Unit tests written and passing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Tested on mobile and desktop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 Deployed to staging + PO accepted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658368"/>
          </a:xfrm>
          <a:prstGeom prst="rect">
            <a:avLst/>
          </a:prstGeom>
          <a:solidFill>
            <a:srgbClr val="FDF0FF"/>
          </a:solidFill>
          <a:ln w="15240">
            <a:solidFill>
              <a:srgbClr val="6B3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0440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935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Healthcare.gov (USA) failed on launch day because 55 contractors each marked their components 'done' without a shared DoD. Nobody had defined done for the integrated system. $600M and it crashed on Day 1.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84124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342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SecureVote DoD example: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433425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Code reviewed  •  Tests passing  •  Works on target device  •  Encryption verified  •  No external network calls  •  PO signed off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 &amp; Burndown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291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VELOCITY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How much work a team completes per sprint, measured in Story Points.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Sprint 1: completed 22 pts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Sprint 2: completed 18 pts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Sprint 3: completed 25 pts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Average velocity: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(22+18+25) ÷ 3 = 21.7 pts/sprint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If 90 points remain: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90 ÷ 21.7 = ~4 sprints to finish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This replaces guessing with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291840"/>
          </a:xfrm>
          <a:prstGeom prst="rect">
            <a:avLst/>
          </a:prstGeom>
          <a:solidFill>
            <a:srgbClr val="EF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BURNDOWN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Shows how much work remains in the sprint day by day. Goal: reach zero by last day.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Line ABOVE ideal: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Team is behind — not completing fast enough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532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Line BELOW ideal: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Team is ahead or tasks over-estimated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035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Line FLAT 3+ days: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Team is BLOCKED — Scrum Master must 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538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Line at zero: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Sprint complete — all work done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977640"/>
            <a:ext cx="37490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0050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Story points MUST be set before sprint starts — not after.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solidFill>
            <a:srgbClr val="EFF9F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462272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17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This week's learning: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51713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Story points were added after the sprint started — so Jira recorded the baseline as 0. In a real team, this is done during Sprint Planning before the sprint begins.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1  —  Sprint Board (Active Sprint)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548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E6FF"/>
                </a:solidFill>
              </a:rPr>
              <a:t>SecureVote Faculty — SF Sprint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444752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444752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904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Board shows TO DO, IN PROGRESS, IN REVIEW, DONE columns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194560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40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SF-6 (Requirement review) in DONE with 3 story points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944368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944368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90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Remaining Sprint 1 tasks visible with story points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694176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694176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7398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First real evidence of a task moving through the Scrum workflow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A8A7E5-BAE3-6F1D-66D8-E614B5FD4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76" y="1333365"/>
            <a:ext cx="5242887" cy="2947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2  —  Sprint 1 Backlog &amp; Goal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E6FF"/>
                </a:solidFill>
              </a:rPr>
              <a:t>6 tasks  •  31 story 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444752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444752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904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Sprint 1 runs May 21 – Jul 29 with 6 work items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194560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40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Sprint goal set: wireframes, database schema, and frontend foundation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944368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944368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90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Story points assigned to all tasks (3, 5, 5, 2, 8, 8)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694176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694176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7398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Demonstrates Sprint Planning applied to a real project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37EB8A-F342-5D51-DD1F-A957CB94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301117"/>
            <a:ext cx="5346089" cy="3005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3  —  Sprint 2 Backlog &amp; Goal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E6FF"/>
                </a:solidFill>
              </a:rPr>
              <a:t>8 tasks  •  38 story 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444752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44475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904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Sprint 2 runs Jun 19 – Jul 29 with 8 work items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19456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40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Sprint goal: backend built, integrated, deployed, and UAT complete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944368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94436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90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Story points: 8, 5, 8, 3, 5, 2, 5, 2 = 38 total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694176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69417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7398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Two-sprint structure reflects realistic project sequencing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DA4E59D-4943-BC21-2930-68320AE41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232429"/>
            <a:ext cx="5303519" cy="29817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4  —  </a:t>
            </a: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BurnDown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E6FF"/>
                </a:solidFill>
              </a:rPr>
              <a:t>Sprint scope vs completion over 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6B3FA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444752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444752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904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Work scope line (red) shows 31 story points in Sprint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194560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40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Guideline (grey) shows ideal completion rate to Jul 29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944368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944368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90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Story points added after sprint start — real lesson on Sprint Planning order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694176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694176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7398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Demonstrates understanding of how velocity and burndown work in Jira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DE6F3DA-638C-6B06-F432-ABCCBDE47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4524"/>
            <a:ext cx="5303520" cy="2981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5F0-3C7F-02ED-940B-DDD85BE7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17D8E2-D549-BCA7-BA93-FECE55C01102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F9E5B5-43B3-5257-399A-34309188C090}"/>
              </a:ext>
            </a:extLst>
          </p:cNvPr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4  —  Burnup Chart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FD328A-499B-C159-94CD-677053A07954}"/>
              </a:ext>
            </a:extLst>
          </p:cNvPr>
          <p:cNvSpPr/>
          <p:nvPr/>
        </p:nvSpPr>
        <p:spPr>
          <a:xfrm>
            <a:off x="6400800" y="256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E6FF"/>
                </a:solidFill>
              </a:rPr>
              <a:t>Sprint scope vs completion over time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41D6E1-2FF9-AB8C-FFA1-B3C20F974D8E}"/>
              </a:ext>
            </a:extLst>
          </p:cNvPr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6B3FA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A1E40A-CD13-8806-02E4-158E59F36C04}"/>
              </a:ext>
            </a:extLst>
          </p:cNvPr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BA7CE6-6D21-2371-1E01-B912E4AC4BAE}"/>
              </a:ext>
            </a:extLst>
          </p:cNvPr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788AC27-8140-4828-04EC-5B1176F8A7BA}"/>
              </a:ext>
            </a:extLst>
          </p:cNvPr>
          <p:cNvSpPr/>
          <p:nvPr/>
        </p:nvSpPr>
        <p:spPr>
          <a:xfrm>
            <a:off x="5943600" y="1444752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C9A37A-7D44-7408-653C-E6527FD18E62}"/>
              </a:ext>
            </a:extLst>
          </p:cNvPr>
          <p:cNvSpPr/>
          <p:nvPr/>
        </p:nvSpPr>
        <p:spPr>
          <a:xfrm>
            <a:off x="5943600" y="1444752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A991F17-322A-CE28-8038-728239BB8895}"/>
              </a:ext>
            </a:extLst>
          </p:cNvPr>
          <p:cNvSpPr/>
          <p:nvPr/>
        </p:nvSpPr>
        <p:spPr>
          <a:xfrm>
            <a:off x="6126480" y="14904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Work scope line (red) shows 31 story points in Sprint 1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42B5E5B-9E39-6B2B-D955-DB3F5C49432E}"/>
              </a:ext>
            </a:extLst>
          </p:cNvPr>
          <p:cNvSpPr/>
          <p:nvPr/>
        </p:nvSpPr>
        <p:spPr>
          <a:xfrm>
            <a:off x="5943600" y="2194560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C806090-33A9-66A4-AB4B-04AA47A5DB51}"/>
              </a:ext>
            </a:extLst>
          </p:cNvPr>
          <p:cNvSpPr/>
          <p:nvPr/>
        </p:nvSpPr>
        <p:spPr>
          <a:xfrm>
            <a:off x="5943600" y="2194560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9BD050-C6E3-86F2-C457-932D36DA284E}"/>
              </a:ext>
            </a:extLst>
          </p:cNvPr>
          <p:cNvSpPr/>
          <p:nvPr/>
        </p:nvSpPr>
        <p:spPr>
          <a:xfrm>
            <a:off x="6126480" y="2240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Guideline (grey) shows ideal completion rate to Jul 29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5766C97-A32F-9389-8DEC-A82AE4D42D4A}"/>
              </a:ext>
            </a:extLst>
          </p:cNvPr>
          <p:cNvSpPr/>
          <p:nvPr/>
        </p:nvSpPr>
        <p:spPr>
          <a:xfrm>
            <a:off x="5943600" y="2944368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8ADC089-A204-C958-2916-A33B83846CDC}"/>
              </a:ext>
            </a:extLst>
          </p:cNvPr>
          <p:cNvSpPr/>
          <p:nvPr/>
        </p:nvSpPr>
        <p:spPr>
          <a:xfrm>
            <a:off x="5943600" y="2944368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2C3F448-7B4F-3940-D4B7-32BD5F644698}"/>
              </a:ext>
            </a:extLst>
          </p:cNvPr>
          <p:cNvSpPr/>
          <p:nvPr/>
        </p:nvSpPr>
        <p:spPr>
          <a:xfrm>
            <a:off x="6126480" y="2990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Story points added after sprint start — real lesson on Sprint Planning order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7C1501-8233-5EC4-AC3B-E16E41FB567D}"/>
              </a:ext>
            </a:extLst>
          </p:cNvPr>
          <p:cNvSpPr/>
          <p:nvPr/>
        </p:nvSpPr>
        <p:spPr>
          <a:xfrm>
            <a:off x="5943600" y="3694176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D6A2467-5068-11C1-97B9-979E3A8FA35D}"/>
              </a:ext>
            </a:extLst>
          </p:cNvPr>
          <p:cNvSpPr/>
          <p:nvPr/>
        </p:nvSpPr>
        <p:spPr>
          <a:xfrm>
            <a:off x="5943600" y="3694176"/>
            <a:ext cx="64008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C670028-33AA-428F-2B09-16FCF10D6A10}"/>
              </a:ext>
            </a:extLst>
          </p:cNvPr>
          <p:cNvSpPr/>
          <p:nvPr/>
        </p:nvSpPr>
        <p:spPr>
          <a:xfrm>
            <a:off x="6126480" y="37398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Demonstrates understanding of how velocity and burndown work in Jira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D5D961A-148B-39AC-F3B2-C1E509E51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12" y="1289780"/>
            <a:ext cx="5303520" cy="298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9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5  —  Documented Blockers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E6FF"/>
                </a:solidFill>
              </a:rPr>
              <a:t>3 blockers identified and logged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E07B39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444752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444752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904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Blocker 1: Waiting for brand guidelines before wireframes can start (Open)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194560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40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Blocker 2: AWS environment not provisioned — schema blocked (Open)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944368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944368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90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Blocker 3: PO unavailable for approval — rescheduled and resolved (Resolved)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694176"/>
            <a:ext cx="2834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694176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7398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Demonstrates Daily Standup blocker surfacing and Scrum Master response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F97DC40-5F56-6483-3688-BFF6D107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294461"/>
            <a:ext cx="5331713" cy="2997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does not make projects easier.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02996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 problems visible before they become disasters.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DDA"/>
                </a:solidFill>
              </a:rPr>
              <a:t>The ceremonies force communication. The DoD forces honesty. The burndown forces visibility. Together they give a team the best possible chance of shipping something real.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Questions &amp; Discussion  •  X3 Lab Internship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1410</Words>
  <Application>Microsoft Office PowerPoint</Application>
  <PresentationFormat>On-screen Show (16:9)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Victor Raji</cp:lastModifiedBy>
  <cp:revision>2</cp:revision>
  <dcterms:created xsi:type="dcterms:W3CDTF">2026-05-29T10:30:51Z</dcterms:created>
  <dcterms:modified xsi:type="dcterms:W3CDTF">2026-05-29T10:42:53Z</dcterms:modified>
</cp:coreProperties>
</file>